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1" r:id="rId3"/>
    <p:sldId id="303" r:id="rId4"/>
    <p:sldId id="335" r:id="rId5"/>
    <p:sldId id="339" r:id="rId6"/>
    <p:sldId id="337" r:id="rId7"/>
    <p:sldId id="338" r:id="rId8"/>
    <p:sldId id="334" r:id="rId9"/>
    <p:sldId id="336" r:id="rId10"/>
    <p:sldId id="332" r:id="rId11"/>
    <p:sldId id="301" r:id="rId12"/>
    <p:sldId id="302" r:id="rId13"/>
    <p:sldId id="333" r:id="rId14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37F"/>
    <a:srgbClr val="C28220"/>
    <a:srgbClr val="E09E19"/>
    <a:srgbClr val="9DAD33"/>
    <a:srgbClr val="6C3302"/>
    <a:srgbClr val="584F29"/>
    <a:srgbClr val="ED4E33"/>
    <a:srgbClr val="003262"/>
    <a:srgbClr val="53626F"/>
    <a:srgbClr val="00B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83791" autoAdjust="0"/>
  </p:normalViewPr>
  <p:slideViewPr>
    <p:cSldViewPr snapToGrid="0" snapToObjects="1">
      <p:cViewPr varScale="1">
        <p:scale>
          <a:sx n="66" d="100"/>
          <a:sy n="66" d="100"/>
        </p:scale>
        <p:origin x="2035" y="14"/>
      </p:cViewPr>
      <p:guideLst>
        <p:guide orient="horz" pos="360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B1905-1EEB-6545-B5E2-B70E8868255E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1A396-5F67-764F-9A9A-305152EBE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85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3F6BF-7462-9046-A2B6-90C29244BD27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7DBC5-2A13-CA47-B9EE-6017A92B6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686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4333"/>
            <a:ext cx="6813884" cy="16394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000">
                <a:solidFill>
                  <a:srgbClr val="C2822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575258"/>
            <a:ext cx="6400800" cy="11135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2D637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0539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0032"/>
            <a:ext cx="7766050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2518947"/>
            <a:ext cx="7740650" cy="20646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130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8325" y="2017295"/>
            <a:ext cx="7772400" cy="19965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325" y="1019341"/>
            <a:ext cx="7772400" cy="89568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200">
                <a:solidFill>
                  <a:srgbClr val="2D637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753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2051"/>
            <a:ext cx="7464425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097755"/>
            <a:ext cx="3717925" cy="2823496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0"/>
          </p:nvPr>
        </p:nvSpPr>
        <p:spPr>
          <a:xfrm>
            <a:off x="4175125" y="2097754"/>
            <a:ext cx="3746500" cy="2823497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2D637F"/>
                </a:solidFill>
              </a:defRPr>
            </a:lvl1pPr>
            <a:lvl2pPr>
              <a:defRPr sz="2000">
                <a:solidFill>
                  <a:srgbClr val="2D637F"/>
                </a:solidFill>
              </a:defRPr>
            </a:lvl2pPr>
            <a:lvl3pPr>
              <a:defRPr sz="1800">
                <a:solidFill>
                  <a:srgbClr val="2D637F"/>
                </a:solidFill>
              </a:defRPr>
            </a:lvl3pPr>
            <a:lvl4pPr>
              <a:defRPr sz="1600">
                <a:solidFill>
                  <a:srgbClr val="2D637F"/>
                </a:solidFill>
              </a:defRPr>
            </a:lvl4pPr>
            <a:lvl5pPr>
              <a:defRPr sz="1400">
                <a:solidFill>
                  <a:srgbClr val="2D637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13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729789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000" y="358775"/>
            <a:ext cx="5486400" cy="3371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4296527"/>
            <a:ext cx="5486400" cy="477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645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041995"/>
            <a:ext cx="3008313" cy="4049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575050" y="1041995"/>
            <a:ext cx="4537075" cy="365700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531651"/>
            <a:ext cx="3008313" cy="31673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9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1" y="1"/>
            <a:ext cx="457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1A3561"/>
                </a:solidFill>
                <a:latin typeface="Open Sans ExtraBold"/>
                <a:cs typeface="Open Sans Extra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69825" y="1504496"/>
            <a:ext cx="385191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1A3561"/>
                </a:solidFill>
                <a:latin typeface="Open Sans"/>
                <a:cs typeface="Open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165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267368" y="530726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57200" y="5259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Project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8079"/>
            <a:ext cx="8229600" cy="2526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274508" y="0"/>
            <a:ext cx="2869492" cy="237957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5598553"/>
            <a:ext cx="9170736" cy="13300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69048" y="6019295"/>
            <a:ext cx="17456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6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81" r:id="rId5"/>
    <p:sldLayoutId id="2147483649" r:id="rId6"/>
    <p:sldLayoutId id="2147483682" r:id="rId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5000" kern="1200">
          <a:solidFill>
            <a:srgbClr val="C28220"/>
          </a:solidFill>
          <a:latin typeface="Georgia"/>
          <a:ea typeface="+mj-ea"/>
          <a:cs typeface="Georg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rgbClr val="2D637F"/>
          </a:solidFill>
          <a:latin typeface="Lucida Grande"/>
          <a:ea typeface="+mn-ea"/>
          <a:cs typeface="Lucida Grande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D637F"/>
          </a:solidFill>
          <a:latin typeface="Lucida Grande"/>
          <a:ea typeface="+mn-ea"/>
          <a:cs typeface="Lucida Grande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D637F"/>
          </a:solidFill>
          <a:latin typeface="Lucida Grande"/>
          <a:ea typeface="+mn-ea"/>
          <a:cs typeface="Lucida Grande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D637F"/>
          </a:solidFill>
          <a:latin typeface="Lucida Grande"/>
          <a:ea typeface="+mn-ea"/>
          <a:cs typeface="Lucida Grande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rgbClr val="2D637F"/>
          </a:solidFill>
          <a:latin typeface="Lucida Grande"/>
          <a:ea typeface="+mn-ea"/>
          <a:cs typeface="Lucida Grand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819319"/>
            <a:ext cx="7833167" cy="1448130"/>
          </a:xfrm>
        </p:spPr>
        <p:txBody>
          <a:bodyPr/>
          <a:lstStyle/>
          <a:p>
            <a:r>
              <a:rPr lang="en-US" dirty="0">
                <a:solidFill>
                  <a:srgbClr val="C28220"/>
                </a:solidFill>
              </a:rPr>
              <a:t>Welcome to </a:t>
            </a:r>
            <a:r>
              <a:rPr lang="en-US" dirty="0" err="1">
                <a:solidFill>
                  <a:srgbClr val="C28220"/>
                </a:solidFill>
              </a:rPr>
              <a:t>Himilcon’s</a:t>
            </a:r>
            <a:r>
              <a:rPr lang="en-US" dirty="0">
                <a:solidFill>
                  <a:srgbClr val="C28220"/>
                </a:solidFill>
              </a:rPr>
              <a:t> lab for EDUC 275B (Data II)!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953943"/>
            <a:ext cx="6400800" cy="830009"/>
          </a:xfrm>
        </p:spPr>
        <p:txBody>
          <a:bodyPr/>
          <a:lstStyle/>
          <a:p>
            <a:r>
              <a:rPr lang="en-US" dirty="0"/>
              <a:t>Himilcon Inciarte</a:t>
            </a:r>
          </a:p>
          <a:p>
            <a:r>
              <a:rPr lang="en-US" dirty="0"/>
              <a:t>himilcon_Inciarte@berkeley.edu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0CBDC53-92E8-6E18-71D5-AC98905433D0}"/>
              </a:ext>
            </a:extLst>
          </p:cNvPr>
          <p:cNvSpPr txBox="1">
            <a:spLocks/>
          </p:cNvSpPr>
          <p:nvPr/>
        </p:nvSpPr>
        <p:spPr>
          <a:xfrm>
            <a:off x="685800" y="2912962"/>
            <a:ext cx="6400800" cy="830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Lab 3</a:t>
            </a:r>
          </a:p>
          <a:p>
            <a:r>
              <a:rPr lang="en-US" dirty="0"/>
              <a:t>Thursday, February 8, 2024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6399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A76A-0ABB-3BEF-FC04-CD206B538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Assignments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4DF64D-A5B8-990A-3237-A950E2EA2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271989"/>
            <a:ext cx="3047678" cy="2137967"/>
          </a:xfrm>
        </p:spPr>
        <p:txBody>
          <a:bodyPr>
            <a:noAutofit/>
          </a:bodyPr>
          <a:lstStyle/>
          <a:p>
            <a:r>
              <a:rPr lang="en-US" dirty="0"/>
              <a:t>Quiz 1b:</a:t>
            </a:r>
          </a:p>
          <a:p>
            <a:pPr lvl="1"/>
            <a:r>
              <a:rPr lang="en-US" dirty="0"/>
              <a:t>02/11/2024</a:t>
            </a:r>
          </a:p>
          <a:p>
            <a:endParaRPr lang="en-US" dirty="0"/>
          </a:p>
          <a:p>
            <a:r>
              <a:rPr lang="en-US" dirty="0"/>
              <a:t>Homework 3 &amp; 4:</a:t>
            </a:r>
          </a:p>
          <a:p>
            <a:pPr lvl="1"/>
            <a:r>
              <a:rPr lang="en-US" dirty="0"/>
              <a:t>02/26/2024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E41DF2-C242-DE1C-E566-6C23E85D7247}"/>
              </a:ext>
            </a:extLst>
          </p:cNvPr>
          <p:cNvSpPr txBox="1">
            <a:spLocks/>
          </p:cNvSpPr>
          <p:nvPr/>
        </p:nvSpPr>
        <p:spPr>
          <a:xfrm>
            <a:off x="4572000" y="2271988"/>
            <a:ext cx="3047678" cy="21379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1:</a:t>
            </a:r>
          </a:p>
          <a:p>
            <a:pPr lvl="1"/>
            <a:r>
              <a:rPr lang="en-US" dirty="0"/>
              <a:t>03/22/2024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4B8B12-2DEE-433D-5185-2F445B20AC28}"/>
              </a:ext>
            </a:extLst>
          </p:cNvPr>
          <p:cNvSpPr/>
          <p:nvPr/>
        </p:nvSpPr>
        <p:spPr>
          <a:xfrm>
            <a:off x="4479403" y="2176041"/>
            <a:ext cx="2500131" cy="1150353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183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802" y="2656798"/>
            <a:ext cx="2016598" cy="749054"/>
          </a:xfrm>
        </p:spPr>
        <p:txBody>
          <a:bodyPr/>
          <a:lstStyle/>
          <a:p>
            <a:r>
              <a:rPr lang="en-US" dirty="0"/>
              <a:t>Quiz 1a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9998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AC72658-4AA9-5BC9-C0B8-65A921B65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34" y="904584"/>
            <a:ext cx="7463940" cy="3806312"/>
          </a:xfrm>
          <a:prstGeom prst="rect">
            <a:avLst/>
          </a:prstGeom>
        </p:spPr>
      </p:pic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284B250-9D97-4F37-0A4A-F4A90BDDD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811" y="1784797"/>
            <a:ext cx="6849431" cy="25244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588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523338D-A1CD-B128-A021-D2799F6FD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41" y="2199971"/>
            <a:ext cx="8784117" cy="12958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6549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D71B614-EF9F-D8F3-9C42-9FF568EA3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56" y="351389"/>
            <a:ext cx="7472391" cy="2843224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8712E09-1994-07D3-014A-BA5FE899BC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5275"/>
          <a:stretch/>
        </p:blipFill>
        <p:spPr>
          <a:xfrm>
            <a:off x="1287073" y="3429000"/>
            <a:ext cx="6096851" cy="19236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13398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3476E-8DA7-99FC-B5E0-E6E3D9AA8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F9A0D1D-D0A6-03DE-E01B-061FC9A9E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56" y="351389"/>
            <a:ext cx="7472391" cy="2843224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3743486-1C83-779E-C9FA-7450CB60DF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3408"/>
          <a:stretch/>
        </p:blipFill>
        <p:spPr>
          <a:xfrm>
            <a:off x="1287073" y="3663388"/>
            <a:ext cx="6096851" cy="16378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3248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3967-6CBA-A164-0F5E-A060EB30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499C4D-9BEC-43B0-B290-60B1924A3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5989" y="2471603"/>
            <a:ext cx="3012021" cy="749054"/>
          </a:xfrm>
        </p:spPr>
        <p:txBody>
          <a:bodyPr/>
          <a:lstStyle/>
          <a:p>
            <a:r>
              <a:rPr lang="en-US" dirty="0"/>
              <a:t>HW 1 and 2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2133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39D83-D066-B59C-3541-6E87B81B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6D953B-C29A-1E9E-1B0D-E3A48F3F7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255" y="2466224"/>
            <a:ext cx="3207489" cy="749054"/>
          </a:xfrm>
        </p:spPr>
        <p:txBody>
          <a:bodyPr/>
          <a:lstStyle/>
          <a:p>
            <a:pPr algn="ctr"/>
            <a:r>
              <a:rPr lang="en-US" dirty="0"/>
              <a:t>Handout: Output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463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891" y="2549221"/>
            <a:ext cx="2834179" cy="749054"/>
          </a:xfrm>
        </p:spPr>
        <p:txBody>
          <a:bodyPr/>
          <a:lstStyle/>
          <a:p>
            <a:r>
              <a:rPr lang="en-US" dirty="0"/>
              <a:t>Lab 02.do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9528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802" y="2656798"/>
            <a:ext cx="2653206" cy="749054"/>
          </a:xfrm>
        </p:spPr>
        <p:txBody>
          <a:bodyPr/>
          <a:lstStyle/>
          <a:p>
            <a:r>
              <a:rPr lang="en-US" dirty="0"/>
              <a:t>Practice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2111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887" y="788351"/>
            <a:ext cx="8332828" cy="343641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Label the variable </a:t>
            </a:r>
            <a:r>
              <a:rPr lang="en-US" sz="2000" i="1" dirty="0"/>
              <a:t>gender</a:t>
            </a:r>
          </a:p>
          <a:p>
            <a:pPr marL="457200" indent="-457200">
              <a:buFont typeface="+mj-lt"/>
              <a:buAutoNum type="arabicPeriod"/>
            </a:pPr>
            <a:endParaRPr lang="en-US" sz="2000" i="1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How many labels are in the database now?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a histogram for </a:t>
            </a:r>
            <a:r>
              <a:rPr lang="en-US" sz="2000" i="1" dirty="0"/>
              <a:t>market</a:t>
            </a:r>
            <a:r>
              <a:rPr lang="en-US" sz="2000" dirty="0"/>
              <a:t>. Is it normally distributed?</a:t>
            </a:r>
            <a:br>
              <a:rPr lang="en-US" sz="2000" dirty="0"/>
            </a:b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What is the mean and standard deviation for </a:t>
            </a:r>
            <a:r>
              <a:rPr lang="en-US" sz="2000" i="1" dirty="0"/>
              <a:t>salary</a:t>
            </a:r>
            <a:r>
              <a:rPr lang="en-US" sz="2000" dirty="0"/>
              <a:t>?</a:t>
            </a:r>
            <a:br>
              <a:rPr lang="en-US" sz="2000" dirty="0"/>
            </a:b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How many values can </a:t>
            </a:r>
            <a:r>
              <a:rPr lang="en-US" sz="2000" i="1" dirty="0"/>
              <a:t>rank</a:t>
            </a:r>
            <a:r>
              <a:rPr lang="en-US" sz="2000" dirty="0"/>
              <a:t> take?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0490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5061" y="2549222"/>
            <a:ext cx="3113878" cy="749054"/>
          </a:xfrm>
        </p:spPr>
        <p:txBody>
          <a:bodyPr/>
          <a:lstStyle/>
          <a:p>
            <a:r>
              <a:rPr lang="en-US" dirty="0"/>
              <a:t>HW 3 and 4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01453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3"/>
  <p:tag name="PRESGUID" val="b23a1144-4ce6-461b-9f87-71b9fe2f8ff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</TotalTime>
  <Words>105</Words>
  <Application>Microsoft Office PowerPoint</Application>
  <PresentationFormat>On-screen Show (4:3)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Georgia</vt:lpstr>
      <vt:lpstr>Lucida Grande</vt:lpstr>
      <vt:lpstr>Open Sans</vt:lpstr>
      <vt:lpstr>Open Sans ExtraBold</vt:lpstr>
      <vt:lpstr>Custom Design</vt:lpstr>
      <vt:lpstr>Welcome to Himilcon’s lab for EDUC 275B (Data II)!</vt:lpstr>
      <vt:lpstr>Upcoming Assignments</vt:lpstr>
      <vt:lpstr>Quiz 1a</vt:lpstr>
      <vt:lpstr>PowerPoint Presentation</vt:lpstr>
      <vt:lpstr>PowerPoint Presentation</vt:lpstr>
      <vt:lpstr>PowerPoint Presentation</vt:lpstr>
      <vt:lpstr>PowerPoint Presentation</vt:lpstr>
      <vt:lpstr>HW 1 and 2</vt:lpstr>
      <vt:lpstr>Handout: Output</vt:lpstr>
      <vt:lpstr>Lab 02.do</vt:lpstr>
      <vt:lpstr>Practice</vt:lpstr>
      <vt:lpstr>PowerPoint Presentation</vt:lpstr>
      <vt:lpstr>HW 3 and 4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Laurie Frasier</dc:creator>
  <cp:lastModifiedBy>Himilcon Inciarte</cp:lastModifiedBy>
  <cp:revision>103</cp:revision>
  <dcterms:created xsi:type="dcterms:W3CDTF">2013-01-15T19:08:57Z</dcterms:created>
  <dcterms:modified xsi:type="dcterms:W3CDTF">2024-02-08T10:30:37Z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6617E751-DBAE-4F4B-AC95-E29DA81D7101</vt:lpwstr>
  </property>
  <property fmtid="{D5CDD505-2E9C-101B-9397-08002B2CF9AE}" pid="3" name="ArticulatePath">
    <vt:lpwstr>Inciarte_Lab01</vt:lpwstr>
  </property>
</Properties>
</file>