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1" r:id="rId3"/>
    <p:sldId id="301" r:id="rId4"/>
    <p:sldId id="302" r:id="rId5"/>
    <p:sldId id="303" r:id="rId6"/>
    <p:sldId id="328" r:id="rId7"/>
    <p:sldId id="327" r:id="rId8"/>
    <p:sldId id="330" r:id="rId9"/>
    <p:sldId id="331" r:id="rId10"/>
    <p:sldId id="332" r:id="rId11"/>
    <p:sldId id="33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37F"/>
    <a:srgbClr val="C28220"/>
    <a:srgbClr val="E09E19"/>
    <a:srgbClr val="9DAD33"/>
    <a:srgbClr val="6C3302"/>
    <a:srgbClr val="584F29"/>
    <a:srgbClr val="ED4E33"/>
    <a:srgbClr val="003262"/>
    <a:srgbClr val="53626F"/>
    <a:srgbClr val="00B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83791" autoAdjust="0"/>
  </p:normalViewPr>
  <p:slideViewPr>
    <p:cSldViewPr snapToGrid="0" snapToObjects="1">
      <p:cViewPr varScale="1">
        <p:scale>
          <a:sx n="89" d="100"/>
          <a:sy n="89" d="100"/>
        </p:scale>
        <p:origin x="2388" y="66"/>
      </p:cViewPr>
      <p:guideLst>
        <p:guide orient="horz" pos="360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B1905-1EEB-6545-B5E2-B70E8868255E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1A396-5F67-764F-9A9A-305152EBE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85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3F6BF-7462-9046-A2B6-90C29244BD27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7DBC5-2A13-CA47-B9EE-6017A92B6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686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4333"/>
            <a:ext cx="6813884" cy="163946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5000">
                <a:solidFill>
                  <a:srgbClr val="C2822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75258"/>
            <a:ext cx="6400800" cy="111359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2D637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53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0032"/>
            <a:ext cx="7766050" cy="115035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518947"/>
            <a:ext cx="7740650" cy="206466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130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8325" y="2017295"/>
            <a:ext cx="7772400" cy="199657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325" y="1019341"/>
            <a:ext cx="7772400" cy="89568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200">
                <a:solidFill>
                  <a:srgbClr val="2D637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753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2051"/>
            <a:ext cx="7464425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97755"/>
            <a:ext cx="3717925" cy="282349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/>
          </p:nvPr>
        </p:nvSpPr>
        <p:spPr>
          <a:xfrm>
            <a:off x="4175125" y="2097754"/>
            <a:ext cx="3746500" cy="2823497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2D637F"/>
                </a:solidFill>
              </a:defRPr>
            </a:lvl1pPr>
            <a:lvl2pPr>
              <a:defRPr sz="2000">
                <a:solidFill>
                  <a:srgbClr val="2D637F"/>
                </a:solidFill>
              </a:defRPr>
            </a:lvl2pPr>
            <a:lvl3pPr>
              <a:defRPr sz="1800">
                <a:solidFill>
                  <a:srgbClr val="2D637F"/>
                </a:solidFill>
              </a:defRPr>
            </a:lvl3pPr>
            <a:lvl4pPr>
              <a:defRPr sz="1600">
                <a:solidFill>
                  <a:srgbClr val="2D637F"/>
                </a:solidFill>
              </a:defRPr>
            </a:lvl4pPr>
            <a:lvl5pPr>
              <a:defRPr sz="1400">
                <a:solidFill>
                  <a:srgbClr val="2D637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13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729789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000" y="358775"/>
            <a:ext cx="5486400" cy="3371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4296527"/>
            <a:ext cx="5486400" cy="4772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45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41995"/>
            <a:ext cx="3008313" cy="4049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575050" y="1041995"/>
            <a:ext cx="4537075" cy="365700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531651"/>
            <a:ext cx="3008313" cy="31673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9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1" y="1"/>
            <a:ext cx="457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1A3561"/>
                </a:solidFill>
                <a:latin typeface="Open Sans ExtraBold"/>
                <a:cs typeface="Open Sans Extra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9825" y="1504496"/>
            <a:ext cx="385191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1A3561"/>
                </a:solidFill>
                <a:latin typeface="Open Sans"/>
                <a:cs typeface="Open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165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67368" y="530726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5259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Project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8079"/>
            <a:ext cx="8229600" cy="2526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274508" y="0"/>
            <a:ext cx="2869492" cy="23795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5598553"/>
            <a:ext cx="9170736" cy="13300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69048" y="6019295"/>
            <a:ext cx="1745673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568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81" r:id="rId5"/>
    <p:sldLayoutId id="2147483649" r:id="rId6"/>
    <p:sldLayoutId id="2147483682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5000" kern="1200">
          <a:solidFill>
            <a:srgbClr val="C28220"/>
          </a:solidFill>
          <a:latin typeface="Georgia"/>
          <a:ea typeface="+mj-ea"/>
          <a:cs typeface="Georg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rgbClr val="2D637F"/>
          </a:solidFill>
          <a:latin typeface="Lucida Grande"/>
          <a:ea typeface="+mn-ea"/>
          <a:cs typeface="Lucida Grand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D637F"/>
          </a:solidFill>
          <a:latin typeface="Lucida Grande"/>
          <a:ea typeface="+mn-ea"/>
          <a:cs typeface="Lucida Grand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D637F"/>
          </a:solidFill>
          <a:latin typeface="Lucida Grande"/>
          <a:ea typeface="+mn-ea"/>
          <a:cs typeface="Lucida Grand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D637F"/>
          </a:solidFill>
          <a:latin typeface="Lucida Grande"/>
          <a:ea typeface="+mn-ea"/>
          <a:cs typeface="Lucida Grand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rgbClr val="2D637F"/>
          </a:solidFill>
          <a:latin typeface="Lucida Grande"/>
          <a:ea typeface="+mn-ea"/>
          <a:cs typeface="Lucida Grand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819319"/>
            <a:ext cx="7833167" cy="1448130"/>
          </a:xfrm>
        </p:spPr>
        <p:txBody>
          <a:bodyPr/>
          <a:lstStyle/>
          <a:p>
            <a:r>
              <a:rPr lang="en-US" dirty="0">
                <a:solidFill>
                  <a:srgbClr val="C28220"/>
                </a:solidFill>
              </a:rPr>
              <a:t>Welcome to </a:t>
            </a:r>
            <a:r>
              <a:rPr lang="en-US" dirty="0" err="1">
                <a:solidFill>
                  <a:srgbClr val="C28220"/>
                </a:solidFill>
              </a:rPr>
              <a:t>Himilcon’s</a:t>
            </a:r>
            <a:r>
              <a:rPr lang="en-US" dirty="0">
                <a:solidFill>
                  <a:srgbClr val="C28220"/>
                </a:solidFill>
              </a:rPr>
              <a:t> lab for EDUC 275B (Data II)!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953943"/>
            <a:ext cx="6400800" cy="830009"/>
          </a:xfrm>
        </p:spPr>
        <p:txBody>
          <a:bodyPr/>
          <a:lstStyle/>
          <a:p>
            <a:r>
              <a:rPr lang="en-US" dirty="0"/>
              <a:t>Himilcon Inciarte</a:t>
            </a:r>
          </a:p>
          <a:p>
            <a:r>
              <a:rPr lang="en-US" dirty="0"/>
              <a:t>himilcon_Inciarte@berkeley.edu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CBDC53-92E8-6E18-71D5-AC98905433D0}"/>
              </a:ext>
            </a:extLst>
          </p:cNvPr>
          <p:cNvSpPr txBox="1">
            <a:spLocks/>
          </p:cNvSpPr>
          <p:nvPr/>
        </p:nvSpPr>
        <p:spPr>
          <a:xfrm>
            <a:off x="685800" y="2912962"/>
            <a:ext cx="6400800" cy="830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Lucida Grande"/>
                <a:ea typeface="+mn-ea"/>
                <a:cs typeface="Lucida Grand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Lab 2</a:t>
            </a:r>
          </a:p>
          <a:p>
            <a:r>
              <a:rPr lang="en-US" dirty="0"/>
              <a:t>Thursday, February 1,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39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A76A-0ABB-3BEF-FC04-CD206B53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Assignments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4DF64D-A5B8-990A-3237-A950E2EA2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71989"/>
            <a:ext cx="3047678" cy="2137967"/>
          </a:xfrm>
        </p:spPr>
        <p:txBody>
          <a:bodyPr>
            <a:noAutofit/>
          </a:bodyPr>
          <a:lstStyle/>
          <a:p>
            <a:r>
              <a:rPr lang="en-US" dirty="0"/>
              <a:t>Quiz 1a:</a:t>
            </a:r>
          </a:p>
          <a:p>
            <a:pPr lvl="1"/>
            <a:r>
              <a:rPr lang="en-US" dirty="0"/>
              <a:t>02/4/2024</a:t>
            </a:r>
          </a:p>
          <a:p>
            <a:endParaRPr lang="en-US" dirty="0"/>
          </a:p>
          <a:p>
            <a:r>
              <a:rPr lang="en-US" dirty="0"/>
              <a:t>Homework 1 &amp; 2:</a:t>
            </a:r>
          </a:p>
          <a:p>
            <a:pPr lvl="1"/>
            <a:r>
              <a:rPr lang="en-US" dirty="0"/>
              <a:t>02/5/2024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E41DF2-C242-DE1C-E566-6C23E85D7247}"/>
              </a:ext>
            </a:extLst>
          </p:cNvPr>
          <p:cNvSpPr txBox="1">
            <a:spLocks/>
          </p:cNvSpPr>
          <p:nvPr/>
        </p:nvSpPr>
        <p:spPr>
          <a:xfrm>
            <a:off x="4572000" y="2271988"/>
            <a:ext cx="3047678" cy="2137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rgbClr val="2D637F"/>
                </a:solidFill>
                <a:latin typeface="Lucida Grande"/>
                <a:ea typeface="+mn-ea"/>
                <a:cs typeface="Lucida Grande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1:</a:t>
            </a:r>
          </a:p>
          <a:p>
            <a:pPr lvl="1"/>
            <a:r>
              <a:rPr lang="en-US" dirty="0"/>
              <a:t>03/22/2024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83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2653206" cy="749054"/>
          </a:xfrm>
        </p:spPr>
        <p:txBody>
          <a:bodyPr/>
          <a:lstStyle/>
          <a:p>
            <a:r>
              <a:rPr lang="en-US" dirty="0"/>
              <a:t>Practice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211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1887" y="140167"/>
                <a:ext cx="8332828" cy="5485129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What is the mean of SD of </a:t>
                </a:r>
                <a:r>
                  <a:rPr lang="en-US" sz="2000" dirty="0" err="1"/>
                  <a:t>mathgain</a:t>
                </a:r>
                <a:r>
                  <a:rPr lang="en-US" sz="2000" dirty="0"/>
                  <a:t> among boys? 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How many girls are in School 1? 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Can </a:t>
                </a:r>
                <a:r>
                  <a:rPr lang="en-US" sz="2000" dirty="0" err="1"/>
                  <a:t>ses</a:t>
                </a:r>
                <a:r>
                  <a:rPr lang="en-US" sz="2000" dirty="0"/>
                  <a:t> signiﬁcantly predict </a:t>
                </a:r>
                <a:r>
                  <a:rPr lang="en-US" sz="2000" dirty="0" err="1"/>
                  <a:t>mathgain</a:t>
                </a:r>
                <a:r>
                  <a:rPr lang="en-US" sz="2000" dirty="0"/>
                  <a:t>? </a:t>
                </a:r>
                <a:br>
                  <a:rPr lang="en-US" sz="2000" dirty="0"/>
                </a:b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one boxplot that compares the </a:t>
                </a:r>
                <a:r>
                  <a:rPr lang="en-US" sz="2000" dirty="0" err="1"/>
                  <a:t>mathgain</a:t>
                </a:r>
                <a:r>
                  <a:rPr lang="en-US" sz="2000" dirty="0"/>
                  <a:t> and </a:t>
                </a:r>
                <a:r>
                  <a:rPr lang="en-US" sz="2000" dirty="0" err="1"/>
                  <a:t>ses</a:t>
                </a:r>
                <a:r>
                  <a:rPr lang="en-US" sz="2000" dirty="0"/>
                  <a:t> between girls and boys.</a:t>
                </a:r>
                <a:br>
                  <a:rPr lang="en-US" sz="2000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Suppose that the following equation describes the relationship between hours of sleep (response variable) and units of happiness (explanatory variable):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= 10 + 1.5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2000" dirty="0"/>
                </a:br>
                <a:endParaRPr lang="en-US" sz="2000" dirty="0"/>
              </a:p>
              <a:p>
                <a:pPr marL="857250" lvl="1" indent="-457200">
                  <a:buFont typeface="+mj-lt"/>
                  <a:buAutoNum type="alphaLcParenR"/>
                </a:pPr>
                <a:r>
                  <a:rPr lang="en-US" dirty="0"/>
                  <a:t>Interpret the slope.</a:t>
                </a:r>
              </a:p>
              <a:p>
                <a:pPr marL="857250" lvl="1" indent="-457200">
                  <a:buFont typeface="+mj-lt"/>
                  <a:buAutoNum type="alphaLcParenR"/>
                </a:pPr>
                <a:r>
                  <a:rPr lang="en-US" dirty="0"/>
                  <a:t>How many hours of sleep would a person who is “5 units of happy” be predicted to get?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887" y="140167"/>
                <a:ext cx="8332828" cy="5485129"/>
              </a:xfrm>
              <a:blipFill>
                <a:blip r:embed="rId3"/>
                <a:stretch>
                  <a:fillRect l="-1025" t="-1222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4049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802" y="2656798"/>
            <a:ext cx="1779930" cy="749054"/>
          </a:xfrm>
        </p:spPr>
        <p:txBody>
          <a:bodyPr/>
          <a:lstStyle/>
          <a:p>
            <a:r>
              <a:rPr lang="en-US" dirty="0"/>
              <a:t>Quiz 0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99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042BB88E-DF99-0ADA-A374-214F5B131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1252"/>
          <a:stretch/>
        </p:blipFill>
        <p:spPr>
          <a:xfrm>
            <a:off x="257749" y="2162990"/>
            <a:ext cx="8520492" cy="1655975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7831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EB3506-7D3E-478C-84AE-C7139B1486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600" y="1195756"/>
                <a:ext cx="7740650" cy="348382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dirty="0"/>
                  <a:t>What is the standard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of the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of a sample of size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from a given population?</a:t>
                </a:r>
              </a:p>
              <a:p>
                <a:pPr lvl="1"/>
                <a:r>
                  <a:rPr lang="en-US" altLang="zh-CN" dirty="0"/>
                  <a:t>We </a:t>
                </a:r>
                <a:r>
                  <a:rPr lang="en-US" altLang="zh-CN" b="1" dirty="0"/>
                  <a:t>cannot</a:t>
                </a:r>
                <a:r>
                  <a:rPr lang="en-US" altLang="zh-CN" dirty="0"/>
                  <a:t> calculate the (true) standard error, but we can </a:t>
                </a:r>
                <a:r>
                  <a:rPr lang="en-US" altLang="zh-CN" b="1" dirty="0"/>
                  <a:t>estimate</a:t>
                </a:r>
                <a:r>
                  <a:rPr lang="en-US" altLang="zh-CN" dirty="0"/>
                  <a:t> it.</a:t>
                </a:r>
              </a:p>
              <a:p>
                <a:pPr lvl="1"/>
                <a:r>
                  <a:rPr lang="en-US" altLang="zh-CN" dirty="0"/>
                  <a:t>The standard error </a:t>
                </a:r>
                <a:r>
                  <a:rPr lang="en-US" altLang="zh-CN" b="1" dirty="0"/>
                  <a:t>does not </a:t>
                </a:r>
                <a:r>
                  <a:rPr lang="en-US" altLang="zh-CN" dirty="0"/>
                  <a:t>tell us how far a given sample mean is from the population mean but represents a </a:t>
                </a:r>
                <a:r>
                  <a:rPr lang="en-US" altLang="zh-CN" b="1" dirty="0"/>
                  <a:t>typical</a:t>
                </a:r>
                <a:r>
                  <a:rPr lang="en-US" altLang="zh-CN" dirty="0"/>
                  <a:t> distance of sample means from the population mean.</a:t>
                </a:r>
              </a:p>
              <a:p>
                <a:pPr lvl="1"/>
                <a:r>
                  <a:rPr lang="en-US" altLang="zh-CN" dirty="0"/>
                  <a:t>The standard error is not the spread of the population (which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dirty="0"/>
                  <a:t>) but </a:t>
                </a:r>
                <a:r>
                  <a:rPr lang="en-US" altLang="zh-CN" b="1" dirty="0"/>
                  <a:t>the spread of the sampling distribution of the sample mean</a:t>
                </a:r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EB3506-7D3E-478C-84AE-C7139B1486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1195756"/>
                <a:ext cx="7740650" cy="3483820"/>
              </a:xfrm>
              <a:blipFill>
                <a:blip r:embed="rId3"/>
                <a:stretch>
                  <a:fillRect l="-1024" t="-1224" r="-1339" b="-1049"/>
                </a:stretch>
              </a:blipFill>
            </p:spPr>
            <p:txBody>
              <a:bodyPr/>
              <a:lstStyle/>
              <a:p>
                <a:r>
                  <a:rPr lang="es-VE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4325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text with black text&#10;&#10;Description automatically generated">
            <a:extLst>
              <a:ext uri="{FF2B5EF4-FFF2-40B4-BE49-F238E27FC236}">
                <a16:creationId xmlns:a16="http://schemas.microsoft.com/office/drawing/2014/main" id="{EAB0BCF4-A385-E97F-E40E-45ACFDBBA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55" y="1410842"/>
            <a:ext cx="7964089" cy="33440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794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text with black text&#10;&#10;Description automatically generated">
            <a:extLst>
              <a:ext uri="{FF2B5EF4-FFF2-40B4-BE49-F238E27FC236}">
                <a16:creationId xmlns:a16="http://schemas.microsoft.com/office/drawing/2014/main" id="{54CD200A-0404-3732-96F2-F3A4F2B7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05" y="1248991"/>
            <a:ext cx="7286590" cy="36564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2609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891" y="2549221"/>
            <a:ext cx="2834179" cy="749054"/>
          </a:xfrm>
        </p:spPr>
        <p:txBody>
          <a:bodyPr/>
          <a:lstStyle/>
          <a:p>
            <a:r>
              <a:rPr lang="en-US" dirty="0"/>
              <a:t>Lab 02.do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528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FE5A550-6F7D-6A97-1BC8-FE26339A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5061" y="2549222"/>
            <a:ext cx="3113878" cy="749054"/>
          </a:xfrm>
        </p:spPr>
        <p:txBody>
          <a:bodyPr/>
          <a:lstStyle/>
          <a:p>
            <a:r>
              <a:rPr lang="en-US" dirty="0"/>
              <a:t>HW 1 and 2</a:t>
            </a:r>
            <a:endParaRPr lang="es-V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0145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1"/>
  <p:tag name="PRESGUID" val="2e1bf4e3-1e3d-456c-962a-c5ed8b16d89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910</TotalTime>
  <Words>249</Words>
  <Application>Microsoft Office PowerPoint</Application>
  <PresentationFormat>On-screen Show (4:3)</PresentationFormat>
  <Paragraphs>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Georgia</vt:lpstr>
      <vt:lpstr>Lucida Grande</vt:lpstr>
      <vt:lpstr>Open Sans</vt:lpstr>
      <vt:lpstr>Open Sans ExtraBold</vt:lpstr>
      <vt:lpstr>Custom Design</vt:lpstr>
      <vt:lpstr>Welcome to Himilcon’s lab for EDUC 275B (Data II)!</vt:lpstr>
      <vt:lpstr>Upcoming Assignments</vt:lpstr>
      <vt:lpstr>Practice</vt:lpstr>
      <vt:lpstr>PowerPoint Presentation</vt:lpstr>
      <vt:lpstr>Quiz 0</vt:lpstr>
      <vt:lpstr>PowerPoint Presentation</vt:lpstr>
      <vt:lpstr>PowerPoint Presentation</vt:lpstr>
      <vt:lpstr>PowerPoint Presentation</vt:lpstr>
      <vt:lpstr>PowerPoint Presentation</vt:lpstr>
      <vt:lpstr>Lab 02.do</vt:lpstr>
      <vt:lpstr>HW 1 and 2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Laurie Frasier</dc:creator>
  <cp:lastModifiedBy>Himilcon Inciarte</cp:lastModifiedBy>
  <cp:revision>91</cp:revision>
  <dcterms:created xsi:type="dcterms:W3CDTF">2013-01-15T19:08:57Z</dcterms:created>
  <dcterms:modified xsi:type="dcterms:W3CDTF">2024-02-01T11:38:24Z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6617E751-DBAE-4F4B-AC95-E29DA81D7101</vt:lpwstr>
  </property>
  <property fmtid="{D5CDD505-2E9C-101B-9397-08002B2CF9AE}" pid="3" name="ArticulatePath">
    <vt:lpwstr>Inciarte_Lab01</vt:lpwstr>
  </property>
</Properties>
</file>