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notesSlides/notesSlide10.xml" ContentType="application/vnd.openxmlformats-officedocument.presentationml.notesSlide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ppt/notesSlides/notesSlide12.xml" ContentType="application/vnd.openxmlformats-officedocument.presentationml.notesSlide+xml"/>
  <Override PartName="/ppt/tags/tag31.xml" ContentType="application/vnd.openxmlformats-officedocument.presentationml.tags+xml"/>
  <Override PartName="/ppt/notesSlides/notesSlide1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37"/>
  </p:notesMasterIdLst>
  <p:handoutMasterIdLst>
    <p:handoutMasterId r:id="rId38"/>
  </p:handoutMasterIdLst>
  <p:sldIdLst>
    <p:sldId id="256" r:id="rId2"/>
    <p:sldId id="268" r:id="rId3"/>
    <p:sldId id="269" r:id="rId4"/>
    <p:sldId id="272" r:id="rId5"/>
    <p:sldId id="270" r:id="rId6"/>
    <p:sldId id="274" r:id="rId7"/>
    <p:sldId id="267" r:id="rId8"/>
    <p:sldId id="263" r:id="rId9"/>
    <p:sldId id="275" r:id="rId10"/>
    <p:sldId id="276" r:id="rId11"/>
    <p:sldId id="277" r:id="rId12"/>
    <p:sldId id="278" r:id="rId13"/>
    <p:sldId id="280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306" r:id="rId22"/>
    <p:sldId id="304" r:id="rId23"/>
    <p:sldId id="301" r:id="rId24"/>
    <p:sldId id="307" r:id="rId25"/>
    <p:sldId id="291" r:id="rId26"/>
    <p:sldId id="298" r:id="rId27"/>
    <p:sldId id="292" r:id="rId28"/>
    <p:sldId id="293" r:id="rId29"/>
    <p:sldId id="294" r:id="rId30"/>
    <p:sldId id="295" r:id="rId31"/>
    <p:sldId id="299" r:id="rId32"/>
    <p:sldId id="300" r:id="rId33"/>
    <p:sldId id="289" r:id="rId34"/>
    <p:sldId id="287" r:id="rId35"/>
    <p:sldId id="271" r:id="rId36"/>
  </p:sldIdLst>
  <p:sldSz cx="9144000" cy="6858000" type="screen4x3"/>
  <p:notesSz cx="6858000" cy="9144000"/>
  <p:custDataLst>
    <p:tags r:id="rId3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37F"/>
    <a:srgbClr val="C28220"/>
    <a:srgbClr val="E09E19"/>
    <a:srgbClr val="9DAD33"/>
    <a:srgbClr val="6C3302"/>
    <a:srgbClr val="584F29"/>
    <a:srgbClr val="ED4E33"/>
    <a:srgbClr val="003262"/>
    <a:srgbClr val="53626F"/>
    <a:srgbClr val="00B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83791" autoAdjust="0"/>
  </p:normalViewPr>
  <p:slideViewPr>
    <p:cSldViewPr snapToGrid="0" snapToObjects="1">
      <p:cViewPr varScale="1">
        <p:scale>
          <a:sx n="89" d="100"/>
          <a:sy n="89" d="100"/>
        </p:scale>
        <p:origin x="2388" y="66"/>
      </p:cViewPr>
      <p:guideLst>
        <p:guide orient="horz" pos="3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F6BF-7462-9046-A2B6-90C29244BD27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7DBC5-2A13-CA47-B9EE-6017A92B6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12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92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6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40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04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74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</a:t>
            </a:r>
            <a:r>
              <a:rPr lang="en-US" baseline="0" dirty="0"/>
              <a:t> fitted line, regression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05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7DBC5-2A13-CA47-B9EE-6017A92B6B1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44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7DBC5-2A13-CA47-B9EE-6017A92B6B1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06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7DBC5-2A13-CA47-B9EE-6017A92B6B1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89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57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09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076E6-A4AC-9E40-BD65-3355DF17CF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1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4333"/>
            <a:ext cx="681388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75258"/>
            <a:ext cx="6400800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2D637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53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032"/>
            <a:ext cx="7766050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518947"/>
            <a:ext cx="7740650" cy="20646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30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8325" y="2017295"/>
            <a:ext cx="7772400" cy="199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325" y="1019341"/>
            <a:ext cx="7772400" cy="8956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>
                <a:solidFill>
                  <a:srgbClr val="2D637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75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2051"/>
            <a:ext cx="7464425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97755"/>
            <a:ext cx="3717925" cy="282349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4175125" y="2097754"/>
            <a:ext cx="3746500" cy="2823497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2D637F"/>
                </a:solidFill>
              </a:defRPr>
            </a:lvl1pPr>
            <a:lvl2pPr>
              <a:defRPr sz="2000">
                <a:solidFill>
                  <a:srgbClr val="2D637F"/>
                </a:solidFill>
              </a:defRPr>
            </a:lvl2pPr>
            <a:lvl3pPr>
              <a:defRPr sz="1800">
                <a:solidFill>
                  <a:srgbClr val="2D637F"/>
                </a:solidFill>
              </a:defRPr>
            </a:lvl3pPr>
            <a:lvl4pPr>
              <a:defRPr sz="1600">
                <a:solidFill>
                  <a:srgbClr val="2D637F"/>
                </a:solidFill>
              </a:defRPr>
            </a:lvl4pPr>
            <a:lvl5pPr>
              <a:defRPr sz="1400">
                <a:solidFill>
                  <a:srgbClr val="2D63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13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729789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000" y="358775"/>
            <a:ext cx="5486400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4296527"/>
            <a:ext cx="5486400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5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41995"/>
            <a:ext cx="3008313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75050" y="1041995"/>
            <a:ext cx="4537075" cy="36570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531651"/>
            <a:ext cx="3008313" cy="31673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1" y="1"/>
            <a:ext cx="457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1A3561"/>
                </a:solidFill>
                <a:latin typeface="Open Sans ExtraBold"/>
                <a:cs typeface="Open Sans Extra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9825" y="1504496"/>
            <a:ext cx="385191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1A3561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6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67368" y="53072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5259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8079"/>
            <a:ext cx="82296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274508" y="0"/>
            <a:ext cx="2869492" cy="23795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5598553"/>
            <a:ext cx="9170736" cy="13300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69048" y="6019295"/>
            <a:ext cx="17456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81" r:id="rId5"/>
    <p:sldLayoutId id="2147483649" r:id="rId6"/>
    <p:sldLayoutId id="2147483682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5000" kern="1200">
          <a:solidFill>
            <a:srgbClr val="C28220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rgbClr val="2D637F"/>
          </a:solidFill>
          <a:latin typeface="Lucida Grande"/>
          <a:ea typeface="+mn-ea"/>
          <a:cs typeface="Lucida Grand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D637F"/>
          </a:solidFill>
          <a:latin typeface="Lucida Grande"/>
          <a:ea typeface="+mn-ea"/>
          <a:cs typeface="Lucida Grand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D637F"/>
          </a:solidFill>
          <a:latin typeface="Lucida Grande"/>
          <a:ea typeface="+mn-ea"/>
          <a:cs typeface="Lucida Grand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D637F"/>
          </a:solidFill>
          <a:latin typeface="Lucida Grande"/>
          <a:ea typeface="+mn-ea"/>
          <a:cs typeface="Lucida Grand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rgbClr val="2D637F"/>
          </a:solidFill>
          <a:latin typeface="Lucida Grande"/>
          <a:ea typeface="+mn-ea"/>
          <a:cs typeface="Lucida Grand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3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819319"/>
            <a:ext cx="7833167" cy="1448130"/>
          </a:xfrm>
        </p:spPr>
        <p:txBody>
          <a:bodyPr/>
          <a:lstStyle/>
          <a:p>
            <a:r>
              <a:rPr lang="en-US" dirty="0">
                <a:solidFill>
                  <a:srgbClr val="C28220"/>
                </a:solidFill>
              </a:rPr>
              <a:t>Welcome to </a:t>
            </a:r>
            <a:r>
              <a:rPr lang="en-US" dirty="0" err="1">
                <a:solidFill>
                  <a:srgbClr val="C28220"/>
                </a:solidFill>
              </a:rPr>
              <a:t>Himilcon’s</a:t>
            </a:r>
            <a:r>
              <a:rPr lang="en-US" dirty="0">
                <a:solidFill>
                  <a:srgbClr val="C28220"/>
                </a:solidFill>
              </a:rPr>
              <a:t> lab for EDUC 275B (Data II)!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9919"/>
            <a:ext cx="6400800" cy="830009"/>
          </a:xfrm>
        </p:spPr>
        <p:txBody>
          <a:bodyPr/>
          <a:lstStyle/>
          <a:p>
            <a:r>
              <a:rPr lang="en-US" dirty="0"/>
              <a:t>Himilcon Inciarte</a:t>
            </a:r>
          </a:p>
          <a:p>
            <a:r>
              <a:rPr lang="en-US" dirty="0"/>
              <a:t>himilcon_Inciarte@berkeley.edu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CBDC53-92E8-6E18-71D5-AC98905433D0}"/>
              </a:ext>
            </a:extLst>
          </p:cNvPr>
          <p:cNvSpPr txBox="1">
            <a:spLocks/>
          </p:cNvSpPr>
          <p:nvPr/>
        </p:nvSpPr>
        <p:spPr>
          <a:xfrm>
            <a:off x="685800" y="3538938"/>
            <a:ext cx="6400800" cy="83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 1</a:t>
            </a:r>
          </a:p>
          <a:p>
            <a:r>
              <a:rPr lang="en-US" dirty="0"/>
              <a:t>Thursday, January 25, 2024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5A0B12-CCF3-3EAE-14DD-1F1103A8FE80}"/>
              </a:ext>
            </a:extLst>
          </p:cNvPr>
          <p:cNvSpPr txBox="1">
            <a:spLocks/>
          </p:cNvSpPr>
          <p:nvPr/>
        </p:nvSpPr>
        <p:spPr>
          <a:xfrm>
            <a:off x="2710405" y="2727912"/>
            <a:ext cx="4376195" cy="463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Thursdays 1-3 PM Berkeley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39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33D-7DB2-E81C-FC48-7F853B70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5481"/>
            <a:ext cx="7766050" cy="1150353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7D4F6-6D1A-1DB1-E711-E5D32BF6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064845"/>
            <a:ext cx="7740650" cy="2064669"/>
          </a:xfrm>
        </p:spPr>
        <p:txBody>
          <a:bodyPr>
            <a:noAutofit/>
          </a:bodyPr>
          <a:lstStyle/>
          <a:p>
            <a:r>
              <a:rPr lang="en-US" dirty="0"/>
              <a:t>Introductions</a:t>
            </a:r>
          </a:p>
          <a:p>
            <a:r>
              <a:rPr lang="en-US" dirty="0"/>
              <a:t>About labs</a:t>
            </a:r>
          </a:p>
          <a:p>
            <a:r>
              <a:rPr lang="en-US" dirty="0"/>
              <a:t>Lab01.do</a:t>
            </a:r>
          </a:p>
          <a:p>
            <a:r>
              <a:rPr lang="en-US" dirty="0"/>
              <a:t>Practice time</a:t>
            </a:r>
          </a:p>
          <a:p>
            <a:r>
              <a:rPr lang="en-US" dirty="0"/>
              <a:t>Preview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122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33D-7DB2-E81C-FC48-7F853B70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5481"/>
            <a:ext cx="7766050" cy="1150353"/>
          </a:xfrm>
        </p:spPr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7D4F6-6D1A-1DB1-E711-E5D32BF6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064845"/>
            <a:ext cx="7740650" cy="2064669"/>
          </a:xfrm>
        </p:spPr>
        <p:txBody>
          <a:bodyPr>
            <a:noAutofit/>
          </a:bodyPr>
          <a:lstStyle/>
          <a:p>
            <a:r>
              <a:rPr lang="en-US" dirty="0"/>
              <a:t>Name</a:t>
            </a:r>
          </a:p>
          <a:p>
            <a:r>
              <a:rPr lang="en-US" dirty="0"/>
              <a:t>Pronouns</a:t>
            </a:r>
          </a:p>
          <a:p>
            <a:r>
              <a:rPr lang="en-US" dirty="0"/>
              <a:t>Year &amp; Program</a:t>
            </a:r>
          </a:p>
          <a:p>
            <a:r>
              <a:rPr lang="en-US" dirty="0"/>
              <a:t>Research interests</a:t>
            </a:r>
          </a:p>
          <a:p>
            <a:r>
              <a:rPr lang="en-US" dirty="0"/>
              <a:t>Why Data II?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742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33D-7DB2-E81C-FC48-7F853B70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5481"/>
            <a:ext cx="7766050" cy="1150353"/>
          </a:xfrm>
        </p:spPr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7D4F6-6D1A-1DB1-E711-E5D32BF6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064845"/>
            <a:ext cx="7740650" cy="2206213"/>
          </a:xfrm>
        </p:spPr>
        <p:txBody>
          <a:bodyPr>
            <a:noAutofit/>
          </a:bodyPr>
          <a:lstStyle/>
          <a:p>
            <a:r>
              <a:rPr lang="en-US" dirty="0"/>
              <a:t>Himilcon Inciarte</a:t>
            </a:r>
          </a:p>
          <a:p>
            <a:r>
              <a:rPr lang="en-US" dirty="0"/>
              <a:t>He/Him</a:t>
            </a:r>
          </a:p>
          <a:p>
            <a:r>
              <a:rPr lang="en-US" dirty="0"/>
              <a:t>Third year PhD in Social Research Methodology</a:t>
            </a:r>
          </a:p>
          <a:p>
            <a:r>
              <a:rPr lang="en-US" dirty="0"/>
              <a:t>Explanatory IRT; Early reading development in Spanish/English bilingual populations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112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33D-7DB2-E81C-FC48-7F853B70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5481"/>
            <a:ext cx="7766050" cy="1150353"/>
          </a:xfrm>
        </p:spPr>
        <p:txBody>
          <a:bodyPr/>
          <a:lstStyle/>
          <a:p>
            <a:r>
              <a:rPr lang="en-US" dirty="0"/>
              <a:t>About labs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7D4F6-6D1A-1DB1-E711-E5D32BF6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064845"/>
            <a:ext cx="7740650" cy="3433130"/>
          </a:xfrm>
        </p:spPr>
        <p:txBody>
          <a:bodyPr>
            <a:noAutofit/>
          </a:bodyPr>
          <a:lstStyle/>
          <a:p>
            <a:r>
              <a:rPr lang="en-US" dirty="0"/>
              <a:t>Develop skills in Stata</a:t>
            </a:r>
          </a:p>
          <a:p>
            <a:r>
              <a:rPr lang="en-US" dirty="0"/>
              <a:t>Preview and review homework and projects</a:t>
            </a:r>
          </a:p>
          <a:p>
            <a:r>
              <a:rPr lang="en-US" dirty="0"/>
              <a:t>A note about office hours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that many slides have been adapted from previous GSIs. They get all the credit if they’re good; I get all the blame if they’re not!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209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696" y="2656798"/>
            <a:ext cx="3760607" cy="749054"/>
          </a:xfrm>
        </p:spPr>
        <p:txBody>
          <a:bodyPr/>
          <a:lstStyle/>
          <a:p>
            <a:r>
              <a:rPr lang="en-US" dirty="0"/>
              <a:t>Today’s review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753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905F-F700-478D-AA57-6FB76905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603FB-C81C-4EB5-BCCF-2924FB231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518947"/>
            <a:ext cx="7740650" cy="2759109"/>
          </a:xfrm>
        </p:spPr>
        <p:txBody>
          <a:bodyPr>
            <a:noAutofit/>
          </a:bodyPr>
          <a:lstStyle/>
          <a:p>
            <a:r>
              <a:rPr lang="en-US" sz="2000" dirty="0"/>
              <a:t>Statistics consist of a body of methods for </a:t>
            </a:r>
            <a:r>
              <a:rPr lang="en-US" sz="2000" b="1" dirty="0"/>
              <a:t>obtaining data </a:t>
            </a:r>
            <a:r>
              <a:rPr lang="en-US" sz="2000" dirty="0"/>
              <a:t>and </a:t>
            </a:r>
            <a:r>
              <a:rPr lang="en-US" sz="2000" b="1" dirty="0"/>
              <a:t>analyzing data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Statistics provides methods for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Design: </a:t>
            </a:r>
            <a:r>
              <a:rPr lang="en-US" sz="1800" dirty="0"/>
              <a:t>Planning how to gather data for research studies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Description: </a:t>
            </a:r>
            <a:r>
              <a:rPr lang="en-US" sz="1800" dirty="0"/>
              <a:t>Summarizing the collected data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Inference: </a:t>
            </a:r>
            <a:r>
              <a:rPr lang="en-US" sz="1800" dirty="0"/>
              <a:t>Making predictions based on the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028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1725" y="1465160"/>
            <a:ext cx="7464425" cy="25754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2768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The</a:t>
            </a:r>
            <a:r>
              <a:rPr sz="200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b="1" dirty="0">
                <a:solidFill>
                  <a:srgbClr val="2D637F"/>
                </a:solidFill>
                <a:latin typeface="Lucida Grande"/>
                <a:cs typeface="Open Sans"/>
              </a:rPr>
              <a:t>population</a:t>
            </a:r>
            <a:r>
              <a:rPr sz="2000" b="1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is</a:t>
            </a:r>
            <a:r>
              <a:rPr sz="200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the</a:t>
            </a:r>
            <a:r>
              <a:rPr sz="200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total</a:t>
            </a:r>
            <a:r>
              <a:rPr sz="200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set</a:t>
            </a:r>
            <a:r>
              <a:rPr sz="2000" spc="-25" dirty="0">
                <a:solidFill>
                  <a:srgbClr val="2D637F"/>
                </a:solidFill>
                <a:latin typeface="Lucida Grande"/>
                <a:cs typeface="Open Sans"/>
              </a:rPr>
              <a:t> of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subjects</a:t>
            </a:r>
            <a:r>
              <a:rPr sz="200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of</a:t>
            </a:r>
            <a:r>
              <a:rPr sz="200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interest</a:t>
            </a:r>
            <a:r>
              <a:rPr sz="200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in</a:t>
            </a:r>
            <a:r>
              <a:rPr sz="200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a</a:t>
            </a:r>
            <a:r>
              <a:rPr sz="200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spc="-10" dirty="0">
                <a:solidFill>
                  <a:srgbClr val="2D637F"/>
                </a:solidFill>
                <a:latin typeface="Lucida Grande"/>
                <a:cs typeface="Open Sans"/>
              </a:rPr>
              <a:t>study.</a:t>
            </a:r>
            <a:endParaRPr lang="en-US" sz="2000" spc="-1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393700" marR="2768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000" spc="-1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393700" marR="2768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A</a:t>
            </a:r>
            <a:r>
              <a:rPr sz="2000" spc="-3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(population)</a:t>
            </a:r>
            <a:r>
              <a:rPr sz="2000" spc="-1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b="1" spc="-10" dirty="0">
                <a:solidFill>
                  <a:srgbClr val="2D637F"/>
                </a:solidFill>
                <a:latin typeface="Lucida Grande"/>
                <a:cs typeface="Open Sans"/>
              </a:rPr>
              <a:t>parameter</a:t>
            </a:r>
            <a:r>
              <a:rPr sz="2000" b="1" spc="-3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is</a:t>
            </a:r>
            <a:r>
              <a:rPr sz="2000" spc="-3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spc="-50" dirty="0">
                <a:solidFill>
                  <a:srgbClr val="2D637F"/>
                </a:solidFill>
                <a:latin typeface="Lucida Grande"/>
                <a:cs typeface="Open Sans"/>
              </a:rPr>
              <a:t>a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numerical</a:t>
            </a:r>
            <a:r>
              <a:rPr sz="2000" spc="-7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summary</a:t>
            </a:r>
            <a:r>
              <a:rPr sz="2000" spc="-6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of</a:t>
            </a:r>
            <a:r>
              <a:rPr sz="2000" spc="-6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spc="-25" dirty="0">
                <a:solidFill>
                  <a:srgbClr val="2D637F"/>
                </a:solidFill>
                <a:latin typeface="Lucida Grande"/>
                <a:cs typeface="Open Sans"/>
              </a:rPr>
              <a:t>the </a:t>
            </a:r>
            <a:r>
              <a:rPr sz="2000" spc="-10" dirty="0">
                <a:solidFill>
                  <a:srgbClr val="2D637F"/>
                </a:solidFill>
                <a:latin typeface="Lucida Grande"/>
                <a:cs typeface="Open Sans"/>
              </a:rPr>
              <a:t>population.</a:t>
            </a:r>
            <a:endParaRPr lang="en-US" sz="2000" spc="-1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393700" marR="2768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00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393700" marR="43180" indent="-342900">
              <a:lnSpc>
                <a:spcPct val="114999"/>
              </a:lnSpc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In</a:t>
            </a:r>
            <a:r>
              <a:rPr sz="2000" spc="-4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one</a:t>
            </a:r>
            <a:r>
              <a:rPr sz="2000" spc="-4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population,</a:t>
            </a:r>
            <a:r>
              <a:rPr sz="200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b="1" dirty="0">
                <a:solidFill>
                  <a:srgbClr val="2D637F"/>
                </a:solidFill>
                <a:latin typeface="Lucida Grande"/>
                <a:cs typeface="Open Sans"/>
              </a:rPr>
              <a:t>μ</a:t>
            </a:r>
            <a:r>
              <a:rPr sz="2000" b="1" spc="-4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spc="-10" dirty="0">
                <a:solidFill>
                  <a:srgbClr val="2D637F"/>
                </a:solidFill>
                <a:latin typeface="Lucida Grande"/>
                <a:cs typeface="Open Sans"/>
              </a:rPr>
              <a:t>(population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mean)</a:t>
            </a:r>
            <a:r>
              <a:rPr sz="2000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and</a:t>
            </a:r>
            <a:r>
              <a:rPr sz="2000" spc="-3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b="1" dirty="0">
                <a:solidFill>
                  <a:srgbClr val="2D637F"/>
                </a:solidFill>
                <a:latin typeface="Lucida Grande"/>
                <a:cs typeface="Open Sans"/>
              </a:rPr>
              <a:t>σ</a:t>
            </a:r>
            <a:r>
              <a:rPr sz="1950" b="1" baseline="32051" dirty="0">
                <a:solidFill>
                  <a:srgbClr val="2D637F"/>
                </a:solidFill>
                <a:latin typeface="Lucida Grande"/>
                <a:cs typeface="Open Sans"/>
              </a:rPr>
              <a:t>2</a:t>
            </a:r>
            <a:r>
              <a:rPr sz="1950" b="1" spc="209" baseline="32051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(population</a:t>
            </a:r>
            <a:r>
              <a:rPr sz="2000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spc="-10" dirty="0">
                <a:solidFill>
                  <a:srgbClr val="2D637F"/>
                </a:solidFill>
                <a:latin typeface="Lucida Grande"/>
                <a:cs typeface="Open Sans"/>
              </a:rPr>
              <a:t>variance) </a:t>
            </a:r>
            <a:r>
              <a:rPr sz="2000" dirty="0">
                <a:solidFill>
                  <a:srgbClr val="2D637F"/>
                </a:solidFill>
                <a:latin typeface="Lucida Grande"/>
                <a:cs typeface="Open Sans"/>
              </a:rPr>
              <a:t>are</a:t>
            </a:r>
            <a:r>
              <a:rPr sz="2000" spc="-1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sz="2000" b="1" spc="-10" dirty="0">
                <a:solidFill>
                  <a:srgbClr val="2D637F"/>
                </a:solidFill>
                <a:latin typeface="Lucida Grande"/>
                <a:cs typeface="Open Sans"/>
              </a:rPr>
              <a:t>parameters</a:t>
            </a:r>
            <a:r>
              <a:rPr sz="2000" spc="-10" dirty="0">
                <a:solidFill>
                  <a:srgbClr val="2D637F"/>
                </a:solidFill>
                <a:latin typeface="Lucida Grande"/>
                <a:cs typeface="Open Sans"/>
              </a:rPr>
              <a:t>.</a:t>
            </a:r>
            <a:endParaRPr sz="2000" dirty="0">
              <a:solidFill>
                <a:srgbClr val="2D637F"/>
              </a:solidFill>
              <a:latin typeface="Lucida Grande"/>
              <a:cs typeface="Open Sans"/>
            </a:endParaRP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6E2B46B7-D6E5-FA51-944F-81A530932930}"/>
              </a:ext>
            </a:extLst>
          </p:cNvPr>
          <p:cNvSpPr txBox="1">
            <a:spLocks/>
          </p:cNvSpPr>
          <p:nvPr/>
        </p:nvSpPr>
        <p:spPr>
          <a:xfrm>
            <a:off x="389305" y="704876"/>
            <a:ext cx="746442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kern="1200">
                <a:solidFill>
                  <a:srgbClr val="C28220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Population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89305" y="1449438"/>
                <a:ext cx="7354158" cy="236115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93700" marR="17780" indent="-342900">
                  <a:lnSpc>
                    <a:spcPct val="105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A</a:t>
                </a:r>
                <a:r>
                  <a:rPr lang="en-US" sz="2000" spc="-3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b="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sample</a:t>
                </a:r>
                <a:r>
                  <a:rPr lang="en-US" sz="2000" b="1" spc="-2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is</a:t>
                </a:r>
                <a:r>
                  <a:rPr lang="en-US" sz="2000" spc="-3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the</a:t>
                </a:r>
                <a:r>
                  <a:rPr lang="en-US" sz="2000" spc="-3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subset</a:t>
                </a:r>
                <a:r>
                  <a:rPr lang="en-US" sz="2000" spc="-3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of</a:t>
                </a:r>
                <a:r>
                  <a:rPr lang="en-US" sz="2000" spc="-3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spc="-2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the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population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on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which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the</a:t>
                </a:r>
                <a:r>
                  <a:rPr lang="en-US" sz="2000" spc="-3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study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spc="-1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collects data.</a:t>
                </a:r>
                <a:br>
                  <a:rPr lang="en-US" sz="2000" spc="-10" dirty="0">
                    <a:solidFill>
                      <a:srgbClr val="2D637F"/>
                    </a:solidFill>
                    <a:latin typeface="Lucida Grande"/>
                    <a:cs typeface="Open Sans"/>
                  </a:rPr>
                </a:br>
                <a:endParaRPr lang="en-US" sz="2000" spc="-10" dirty="0">
                  <a:solidFill>
                    <a:srgbClr val="2D637F"/>
                  </a:solidFill>
                  <a:latin typeface="Lucida Grande"/>
                  <a:cs typeface="Open Sans"/>
                </a:endParaRPr>
              </a:p>
              <a:p>
                <a:pPr marL="393700" marR="17780" indent="-342900">
                  <a:lnSpc>
                    <a:spcPct val="105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A</a:t>
                </a:r>
                <a:r>
                  <a:rPr lang="en-US" sz="2000" spc="-5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b="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statistic</a:t>
                </a:r>
                <a:r>
                  <a:rPr lang="en-US" sz="2000" b="1" spc="-4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is</a:t>
                </a:r>
                <a:r>
                  <a:rPr lang="en-US" sz="2000" spc="-5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a</a:t>
                </a:r>
                <a:r>
                  <a:rPr lang="en-US" sz="2000" spc="-5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numerical</a:t>
                </a:r>
                <a:r>
                  <a:rPr lang="en-US" sz="2000" spc="-5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summary</a:t>
                </a:r>
                <a:r>
                  <a:rPr lang="en-US" sz="2000" spc="-5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spc="-2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of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the</a:t>
                </a:r>
                <a:r>
                  <a:rPr lang="en-US" sz="2000" spc="-5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sample</a:t>
                </a:r>
                <a:r>
                  <a:rPr lang="en-US" sz="2000" spc="-5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spc="-2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data.</a:t>
                </a:r>
                <a:br>
                  <a:rPr lang="en-US" sz="2000" spc="-20" dirty="0">
                    <a:solidFill>
                      <a:srgbClr val="2D637F"/>
                    </a:solidFill>
                    <a:latin typeface="Lucida Grande"/>
                    <a:cs typeface="Open Sans"/>
                  </a:rPr>
                </a:br>
                <a:endParaRPr lang="en-US" sz="2000" spc="-20" dirty="0">
                  <a:solidFill>
                    <a:srgbClr val="2D637F"/>
                  </a:solidFill>
                  <a:latin typeface="Lucida Grande"/>
                  <a:cs typeface="Open Sans"/>
                </a:endParaRPr>
              </a:p>
              <a:p>
                <a:pPr marL="393700" marR="17780" indent="-342900">
                  <a:lnSpc>
                    <a:spcPct val="105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In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a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sample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of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the</a:t>
                </a:r>
                <a:r>
                  <a:rPr lang="en-US" sz="2000" spc="-4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population,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smtClean="0">
                            <a:solidFill>
                              <a:srgbClr val="2D637F"/>
                            </a:solidFill>
                            <a:latin typeface="Cambria Math" panose="02040503050406030204" pitchFamily="18" charset="0"/>
                            <a:cs typeface="Open Sans"/>
                          </a:rPr>
                        </m:ctrlPr>
                      </m:accPr>
                      <m:e>
                        <m:r>
                          <a:rPr lang="en-US" sz="2000" b="1" i="1" smtClean="0">
                            <a:solidFill>
                              <a:srgbClr val="2D637F"/>
                            </a:solidFill>
                            <a:latin typeface="Cambria Math" panose="02040503050406030204" pitchFamily="18" charset="0"/>
                            <a:cs typeface="Open Sans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000" b="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(sample</a:t>
                </a:r>
                <a:r>
                  <a:rPr lang="en-US" sz="2000" spc="-6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mean)</a:t>
                </a:r>
                <a:r>
                  <a:rPr lang="en-US" sz="2000" spc="-6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and</a:t>
                </a:r>
                <a:r>
                  <a:rPr lang="en-US" sz="2000" spc="-45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b="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</a:t>
                </a:r>
                <a:r>
                  <a:rPr lang="en-US" sz="2000" b="1" baseline="3205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2</a:t>
                </a:r>
                <a:r>
                  <a:rPr lang="en-US" sz="2000" b="1" spc="179" baseline="3205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spc="-1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(sample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variance)</a:t>
                </a:r>
                <a:r>
                  <a:rPr lang="en-US" sz="2000" spc="-3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are</a:t>
                </a:r>
                <a:r>
                  <a:rPr lang="en-US" sz="2000" spc="-1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</a:t>
                </a:r>
                <a:r>
                  <a:rPr lang="en-US" sz="2000" b="1" spc="-1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statistics</a:t>
                </a:r>
                <a:r>
                  <a:rPr lang="en-US" sz="2000" spc="-1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.</a:t>
                </a:r>
                <a:endParaRPr sz="2000" dirty="0">
                  <a:solidFill>
                    <a:srgbClr val="2D637F"/>
                  </a:solidFill>
                  <a:latin typeface="Lucida Grande"/>
                  <a:cs typeface="Open Sans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05" y="1449438"/>
                <a:ext cx="7354158" cy="2361159"/>
              </a:xfrm>
              <a:prstGeom prst="rect">
                <a:avLst/>
              </a:prstGeom>
              <a:blipFill>
                <a:blip r:embed="rId3"/>
                <a:stretch>
                  <a:fillRect l="-1327" t="-3101" b="-2326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2">
            <a:extLst>
              <a:ext uri="{FF2B5EF4-FFF2-40B4-BE49-F238E27FC236}">
                <a16:creationId xmlns:a16="http://schemas.microsoft.com/office/drawing/2014/main" id="{6E2B46B7-D6E5-FA51-944F-81A530932930}"/>
              </a:ext>
            </a:extLst>
          </p:cNvPr>
          <p:cNvSpPr txBox="1">
            <a:spLocks/>
          </p:cNvSpPr>
          <p:nvPr/>
        </p:nvSpPr>
        <p:spPr>
          <a:xfrm>
            <a:off x="389305" y="704876"/>
            <a:ext cx="746442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kern="1200">
                <a:solidFill>
                  <a:srgbClr val="C28220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Sample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70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9305" y="1449438"/>
            <a:ext cx="7354158" cy="26523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05000"/>
              </a:lnSpc>
              <a:spcBef>
                <a:spcPts val="100"/>
              </a:spcBef>
            </a:pPr>
            <a: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  <a:t>Descriptive statistics summarize the information such as:</a:t>
            </a:r>
            <a:b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</a:br>
            <a:endParaRPr lang="en-US" sz="200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393700" marR="17780" indent="-342900">
              <a:lnSpc>
                <a:spcPct val="10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  <a:t>frequency; </a:t>
            </a:r>
          </a:p>
          <a:p>
            <a:pPr marL="393700" marR="17780" indent="-342900">
              <a:lnSpc>
                <a:spcPct val="10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  <a:t>proportion; </a:t>
            </a:r>
          </a:p>
          <a:p>
            <a:pPr marL="393700" marR="17780" indent="-342900">
              <a:lnSpc>
                <a:spcPct val="10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  <a:t>mean; </a:t>
            </a:r>
          </a:p>
          <a:p>
            <a:pPr marL="393700" marR="17780" indent="-342900">
              <a:lnSpc>
                <a:spcPct val="10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  <a:t>and standard deviation</a:t>
            </a:r>
          </a:p>
          <a:p>
            <a:pPr marL="50800" marR="17780">
              <a:lnSpc>
                <a:spcPct val="105000"/>
              </a:lnSpc>
              <a:spcBef>
                <a:spcPts val="100"/>
              </a:spcBef>
            </a:pPr>
            <a:endParaRPr lang="en-US" sz="200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50800" marR="17780">
              <a:lnSpc>
                <a:spcPct val="105000"/>
              </a:lnSpc>
              <a:spcBef>
                <a:spcPts val="100"/>
              </a:spcBef>
            </a:pPr>
            <a:r>
              <a:rPr lang="en-US" sz="2000" dirty="0">
                <a:solidFill>
                  <a:srgbClr val="2D637F"/>
                </a:solidFill>
                <a:latin typeface="Lucida Grande"/>
                <a:cs typeface="Open Sans"/>
              </a:rPr>
              <a:t>in a collection of data, by using numbers, tables, and plots.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6E2B46B7-D6E5-FA51-944F-81A530932930}"/>
              </a:ext>
            </a:extLst>
          </p:cNvPr>
          <p:cNvSpPr txBox="1">
            <a:spLocks/>
          </p:cNvSpPr>
          <p:nvPr/>
        </p:nvSpPr>
        <p:spPr>
          <a:xfrm>
            <a:off x="389305" y="704876"/>
            <a:ext cx="746442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kern="1200">
                <a:solidFill>
                  <a:srgbClr val="C28220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Descriptive Statistics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393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389305" y="1449438"/>
                <a:ext cx="8222260" cy="251350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76200" marR="84455">
                  <a:lnSpc>
                    <a:spcPts val="2120"/>
                  </a:lnSpc>
                  <a:spcBef>
                    <a:spcPts val="260"/>
                  </a:spcBef>
                </a:pP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Inferential statistics provide </a:t>
                </a:r>
                <a:r>
                  <a:rPr lang="en-US" sz="2000" b="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predictions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about a population, especially for population parameters, based on data from a sample of that population. For example: </a:t>
                </a:r>
                <a:b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</a:br>
                <a:endParaRPr lang="en-US" sz="2000" dirty="0">
                  <a:solidFill>
                    <a:srgbClr val="2D637F"/>
                  </a:solidFill>
                  <a:latin typeface="Lucida Grande"/>
                  <a:cs typeface="Open Sans"/>
                </a:endParaRPr>
              </a:p>
              <a:p>
                <a:pPr marL="876300" marR="84455" lvl="1" indent="-342900">
                  <a:lnSpc>
                    <a:spcPts val="2120"/>
                  </a:lnSpc>
                  <a:spcBef>
                    <a:spcPts val="260"/>
                  </a:spcBef>
                  <a:buFontTx/>
                  <a:buChar char="−"/>
                </a:pP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In a simple regression, 𝛼 (intercept), 𝛽 (slope), and 𝜎</a:t>
                </a:r>
                <a:r>
                  <a:rPr lang="en-US" sz="2000" baseline="30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2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(residual variance) are parameters; </a:t>
                </a:r>
                <a:b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</a:br>
                <a:endParaRPr lang="en-US" sz="2000" dirty="0">
                  <a:solidFill>
                    <a:srgbClr val="2D637F"/>
                  </a:solidFill>
                  <a:latin typeface="Lucida Grande"/>
                  <a:cs typeface="Open Sans"/>
                </a:endParaRPr>
              </a:p>
              <a:p>
                <a:pPr marL="876300" marR="84455" lvl="1" indent="-342900">
                  <a:lnSpc>
                    <a:spcPts val="2120"/>
                  </a:lnSpc>
                  <a:spcBef>
                    <a:spcPts val="260"/>
                  </a:spcBef>
                  <a:buFontTx/>
                  <a:buChar char="−"/>
                </a:pP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𝑎 (estimate of 𝛼), 𝑏 (estimate of 𝛽),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 smtClean="0">
                            <a:solidFill>
                              <a:srgbClr val="2D637F"/>
                            </a:solidFill>
                            <a:latin typeface="Cambria Math" panose="02040503050406030204" pitchFamily="18" charset="0"/>
                            <a:cs typeface="Open Sans"/>
                          </a:rPr>
                        </m:ctrlPr>
                      </m:accPr>
                      <m:e>
                        <m:r>
                          <a:rPr lang="en-US" sz="2000" i="1" dirty="0">
                            <a:solidFill>
                              <a:srgbClr val="2D637F"/>
                            </a:solidFill>
                            <a:latin typeface="Cambria Math" panose="02040503050406030204" pitchFamily="18" charset="0"/>
                            <a:cs typeface="Open Sans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2000" baseline="30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2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(MSE; estimate of 𝜎</a:t>
                </a:r>
                <a:r>
                  <a:rPr lang="en-US" sz="2000" baseline="30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2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) are </a:t>
                </a:r>
                <a:r>
                  <a:rPr lang="en-US" sz="2000" b="1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estimates</a:t>
                </a:r>
                <a:r>
                  <a:rPr lang="en-US" sz="2000" dirty="0">
                    <a:solidFill>
                      <a:srgbClr val="2D637F"/>
                    </a:solidFill>
                    <a:latin typeface="Lucida Grande"/>
                    <a:cs typeface="Open Sans"/>
                  </a:rPr>
                  <a:t> of those parameters. </a:t>
                </a: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05" y="1449438"/>
                <a:ext cx="8222260" cy="2513509"/>
              </a:xfrm>
              <a:prstGeom prst="rect">
                <a:avLst/>
              </a:prstGeom>
              <a:blipFill>
                <a:blip r:embed="rId3"/>
                <a:stretch>
                  <a:fillRect l="-964" t="-4126" b="-5340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2">
            <a:extLst>
              <a:ext uri="{FF2B5EF4-FFF2-40B4-BE49-F238E27FC236}">
                <a16:creationId xmlns:a16="http://schemas.microsoft.com/office/drawing/2014/main" id="{6E2B46B7-D6E5-FA51-944F-81A530932930}"/>
              </a:ext>
            </a:extLst>
          </p:cNvPr>
          <p:cNvSpPr txBox="1">
            <a:spLocks/>
          </p:cNvSpPr>
          <p:nvPr/>
        </p:nvSpPr>
        <p:spPr>
          <a:xfrm>
            <a:off x="389305" y="704876"/>
            <a:ext cx="746442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kern="1200">
                <a:solidFill>
                  <a:srgbClr val="C28220"/>
                </a:solidFill>
                <a:latin typeface="Georgia"/>
                <a:ea typeface="+mj-ea"/>
                <a:cs typeface="Georgi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Inferential Statistics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124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F32F-4EAB-424D-8F5B-68AED84B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7207"/>
            <a:ext cx="7766050" cy="1150353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12DAC-AB81-4F83-8F82-41C6EF2E5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97560"/>
            <a:ext cx="7740650" cy="29586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Hypotheses tests use sample data answer questions like the following:</a:t>
            </a:r>
            <a:br>
              <a:rPr lang="en-US" dirty="0"/>
            </a:br>
            <a:endParaRPr lang="en-US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Is the population mean greater than or less than a particular value?</a:t>
            </a:r>
            <a:br>
              <a:rPr lang="en-US" dirty="0"/>
            </a:br>
            <a:endParaRPr lang="en-US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Are the means of two or more populations different from each other?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3263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F32F-4EAB-424D-8F5B-68AED84B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7207"/>
            <a:ext cx="7766050" cy="1150353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12DAC-AB81-4F83-8F82-41C6EF2E5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97560"/>
            <a:ext cx="7740650" cy="2958693"/>
          </a:xfrm>
        </p:spPr>
        <p:txBody>
          <a:bodyPr>
            <a:noAutofit/>
          </a:bodyPr>
          <a:lstStyle/>
          <a:p>
            <a:r>
              <a:rPr lang="en-US" dirty="0"/>
              <a:t>Make decision regarding null hypothesis:</a:t>
            </a:r>
          </a:p>
          <a:p>
            <a:pPr lvl="1"/>
            <a:r>
              <a:rPr lang="en-US" dirty="0"/>
              <a:t>Reject or fail to reject (null hypothesis can’t be proven)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Calculate the Confidence Interval (CI) of your estimate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6936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69C1-4799-4BC5-97F9-590CE534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759"/>
            <a:ext cx="7766050" cy="1150353"/>
          </a:xfrm>
        </p:spPr>
        <p:txBody>
          <a:bodyPr/>
          <a:lstStyle/>
          <a:p>
            <a:r>
              <a:rPr lang="en-US" dirty="0"/>
              <a:t>What is P-value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A7D36-2C7B-48D4-A673-FB2F3261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46928"/>
            <a:ext cx="7740650" cy="7291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The p-value is </a:t>
            </a:r>
            <a:r>
              <a:rPr lang="en-US" sz="2000" dirty="0"/>
              <a:t>defined</a:t>
            </a:r>
            <a:r>
              <a:rPr lang="en-US" sz="1600" dirty="0"/>
              <a:t> as the </a:t>
            </a:r>
            <a:r>
              <a:rPr lang="en-US" sz="1600" b="1" dirty="0"/>
              <a:t>probability</a:t>
            </a:r>
            <a:r>
              <a:rPr lang="en-US" sz="1600" dirty="0"/>
              <a:t>, assuming the null hypothesis is correct, of obtaining a result </a:t>
            </a:r>
            <a:r>
              <a:rPr lang="en-US" sz="1600" b="1" dirty="0"/>
              <a:t>equal to or more extreme </a:t>
            </a:r>
            <a:r>
              <a:rPr lang="en-US" sz="1600" dirty="0"/>
              <a:t>than what is observed.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16B5F-C7B3-9941-B76D-2DD3B92BB3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869"/>
          <a:stretch/>
        </p:blipFill>
        <p:spPr>
          <a:xfrm>
            <a:off x="5959350" y="3228113"/>
            <a:ext cx="2379562" cy="1012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48A4C1-75BA-91C9-64D5-20A1EC0946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131" b="33679"/>
          <a:stretch/>
        </p:blipFill>
        <p:spPr>
          <a:xfrm>
            <a:off x="482600" y="3228113"/>
            <a:ext cx="2375306" cy="1012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B36135-9DA7-49A3-5179-75F91901D0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897"/>
          <a:stretch/>
        </p:blipFill>
        <p:spPr>
          <a:xfrm>
            <a:off x="3312528" y="3139231"/>
            <a:ext cx="2375306" cy="11017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192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AE45-E178-45F5-B7AF-151F0B33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50" y="324058"/>
            <a:ext cx="7766050" cy="1150353"/>
          </a:xfrm>
        </p:spPr>
        <p:txBody>
          <a:bodyPr/>
          <a:lstStyle/>
          <a:p>
            <a:r>
              <a:rPr lang="en-US" dirty="0"/>
              <a:t>Regression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400D54-62C3-46E4-90BB-B0E80E702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2750" y="1592973"/>
                <a:ext cx="7740650" cy="293272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Regression analysis is used to </a:t>
                </a:r>
                <a:r>
                  <a:rPr lang="en-US" b="1" dirty="0"/>
                  <a:t>predict</a:t>
                </a:r>
                <a:r>
                  <a:rPr lang="en-US" dirty="0"/>
                  <a:t> the value of one variable (the dependent variable) on the basis of other variables (the independent variables): </a:t>
                </a:r>
              </a:p>
              <a:p>
                <a:pPr lvl="1"/>
                <a:r>
                  <a:rPr lang="en-US" dirty="0"/>
                  <a:t>Dependent variable: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Independent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marL="400050"/>
                <a:r>
                  <a:rPr lang="en-US" dirty="0"/>
                  <a:t>It analyzes the </a:t>
                </a:r>
                <a:r>
                  <a:rPr lang="en-US" b="1" dirty="0"/>
                  <a:t>relationship</a:t>
                </a:r>
                <a:r>
                  <a:rPr lang="en-US" dirty="0"/>
                  <a:t> between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400D54-62C3-46E4-90BB-B0E80E702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2750" y="1592973"/>
                <a:ext cx="7740650" cy="2932728"/>
              </a:xfrm>
              <a:blipFill>
                <a:blip r:embed="rId4"/>
                <a:stretch>
                  <a:fillRect l="-1024" t="-1040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98191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829288"/>
              </p:ext>
            </p:extLst>
          </p:nvPr>
        </p:nvGraphicFramePr>
        <p:xfrm>
          <a:off x="2308230" y="2952576"/>
          <a:ext cx="3973116" cy="82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952500" imgH="215900" progId="Equation.3">
                  <p:embed/>
                </p:oleObj>
              </mc:Choice>
              <mc:Fallback>
                <p:oleObj name="수식" r:id="rId4" imgW="952500" imgH="215900" progId="Equation.3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8230" y="2952576"/>
                        <a:ext cx="3973116" cy="829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80" y="254610"/>
            <a:ext cx="7766050" cy="11503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Simple 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80" y="1523525"/>
            <a:ext cx="7740650" cy="2064669"/>
          </a:xfrm>
        </p:spPr>
        <p:txBody>
          <a:bodyPr>
            <a:normAutofit/>
          </a:bodyPr>
          <a:lstStyle/>
          <a:p>
            <a:r>
              <a:rPr lang="en-US" dirty="0"/>
              <a:t>A straight-line model with one independent variable is called </a:t>
            </a:r>
            <a:r>
              <a:rPr lang="en-US" i="1" u="sng" dirty="0"/>
              <a:t>a simple linear regression model</a:t>
            </a:r>
            <a:r>
              <a:rPr lang="en-US" dirty="0"/>
              <a:t>. It is written as:</a:t>
            </a:r>
          </a:p>
          <a:p>
            <a:pPr lvl="8"/>
            <a:endParaRPr lang="en-US" sz="1275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680085" y="3715364"/>
            <a:ext cx="149855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350" dirty="0">
                <a:latin typeface="Tahoma" charset="0"/>
              </a:rPr>
              <a:t>unobserved error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079635" y="2456649"/>
            <a:ext cx="99738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  <a:latin typeface="Tahoma" charset="0"/>
              </a:rPr>
              <a:t>dependent</a:t>
            </a:r>
          </a:p>
          <a:p>
            <a:r>
              <a:rPr lang="en-US" sz="1350" dirty="0">
                <a:solidFill>
                  <a:srgbClr val="FF0000"/>
                </a:solidFill>
                <a:latin typeface="Tahoma" charset="0"/>
              </a:rPr>
              <a:t>variable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537085" y="2399499"/>
            <a:ext cx="113364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  <a:latin typeface="Tahoma" charset="0"/>
              </a:rPr>
              <a:t>independent</a:t>
            </a:r>
          </a:p>
          <a:p>
            <a:r>
              <a:rPr lang="en-US" sz="1350" dirty="0">
                <a:solidFill>
                  <a:srgbClr val="FF0000"/>
                </a:solidFill>
                <a:latin typeface="Tahoma" charset="0"/>
              </a:rPr>
              <a:t>variable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165485" y="3715364"/>
            <a:ext cx="10574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350" dirty="0">
                <a:solidFill>
                  <a:schemeClr val="accent4"/>
                </a:solidFill>
                <a:latin typeface="Tahoma" charset="0"/>
              </a:rPr>
              <a:t>y- intercept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251335" y="3715364"/>
            <a:ext cx="140955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350">
                <a:solidFill>
                  <a:srgbClr val="008000"/>
                </a:solidFill>
                <a:latin typeface="Tahoma" charset="0"/>
              </a:rPr>
              <a:t>slope of the line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2308235" y="2958329"/>
            <a:ext cx="514350" cy="8001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816728" y="2951315"/>
            <a:ext cx="463307" cy="8001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3336935" y="2958329"/>
            <a:ext cx="628650" cy="8001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none" anchor="ctr"/>
          <a:lstStyle/>
          <a:p>
            <a:endParaRPr lang="en-US" sz="1350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4339252" y="2951315"/>
            <a:ext cx="477476" cy="800100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>
              <a:solidFill>
                <a:srgbClr val="008000"/>
              </a:solidFill>
            </a:endParaRP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5734830" y="2940830"/>
            <a:ext cx="546844" cy="800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2252466" y="4265389"/>
                <a:ext cx="1084469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𝜀</m:t>
                          </m:r>
                        </m:e>
                        <m:sub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</m:sSub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~ 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(0, </m:t>
                      </m:r>
                      <m:sSup>
                        <m:sSup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𝜎</m:t>
                          </m:r>
                        </m:e>
                        <m: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466" y="4265389"/>
                <a:ext cx="1084469" cy="553998"/>
              </a:xfrm>
              <a:prstGeom prst="rect">
                <a:avLst/>
              </a:prstGeom>
              <a:blipFill>
                <a:blip r:embed="rId6"/>
                <a:stretch>
                  <a:fillRect r="-101124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4687714" y="4333828"/>
            <a:ext cx="264107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lang="en-US" sz="1350" dirty="0">
                <a:latin typeface="Tahoma" charset="0"/>
              </a:rPr>
              <a:t>identically independently normally distributed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18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705" y="284848"/>
            <a:ext cx="7766050" cy="1150353"/>
          </a:xfrm>
        </p:spPr>
        <p:txBody>
          <a:bodyPr>
            <a:normAutofit/>
          </a:bodyPr>
          <a:lstStyle/>
          <a:p>
            <a:r>
              <a:rPr lang="en-US" b="1" dirty="0"/>
              <a:t>Simple linear regression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470105" y="1553764"/>
            <a:ext cx="7740650" cy="817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Both </a:t>
            </a:r>
            <a:r>
              <a:rPr lang="el-GR" sz="1800" dirty="0"/>
              <a:t>α</a:t>
            </a:r>
            <a:r>
              <a:rPr lang="en-US" sz="1800" dirty="0"/>
              <a:t> and </a:t>
            </a:r>
            <a:r>
              <a:rPr lang="el-GR" sz="1800" dirty="0"/>
              <a:t>β</a:t>
            </a:r>
            <a:r>
              <a:rPr lang="en-US" sz="1800" dirty="0"/>
              <a:t> are population parameters which are usually unknown and hence </a:t>
            </a:r>
            <a:r>
              <a:rPr lang="en-US" sz="1800" i="1" dirty="0">
                <a:solidFill>
                  <a:srgbClr val="FF0000"/>
                </a:solidFill>
              </a:rPr>
              <a:t>estimated</a:t>
            </a:r>
            <a:r>
              <a:rPr lang="en-US" sz="1800" dirty="0"/>
              <a:t> from the data. </a:t>
            </a:r>
          </a:p>
          <a:p>
            <a:endParaRPr lang="en-US" sz="1800" dirty="0"/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2627037" y="2727040"/>
            <a:ext cx="27122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>
                <a:latin typeface="Tahoma" charset="0"/>
              </a:rPr>
              <a:t>y</a:t>
            </a: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2908025" y="2898492"/>
            <a:ext cx="3657600" cy="152757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350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2565125" y="4441541"/>
            <a:ext cx="3429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sz="1350"/>
          </a:p>
        </p:txBody>
      </p:sp>
      <p:sp>
        <p:nvSpPr>
          <p:cNvPr id="25" name="Text Box 37"/>
          <p:cNvSpPr txBox="1">
            <a:spLocks noChangeArrowheads="1"/>
          </p:cNvSpPr>
          <p:nvPr/>
        </p:nvSpPr>
        <p:spPr bwMode="auto">
          <a:xfrm>
            <a:off x="6165575" y="5070190"/>
            <a:ext cx="26962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>
                <a:latin typeface="Tahoma" charset="0"/>
              </a:rPr>
              <a:t>x</a:t>
            </a:r>
          </a:p>
        </p:txBody>
      </p:sp>
      <p:sp>
        <p:nvSpPr>
          <p:cNvPr id="26" name="Line 39"/>
          <p:cNvSpPr>
            <a:spLocks noChangeShapeType="1"/>
          </p:cNvSpPr>
          <p:nvPr/>
        </p:nvSpPr>
        <p:spPr bwMode="auto">
          <a:xfrm>
            <a:off x="3993875" y="3984341"/>
            <a:ext cx="1314450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7" name="Line 40"/>
          <p:cNvSpPr>
            <a:spLocks noChangeShapeType="1"/>
          </p:cNvSpPr>
          <p:nvPr/>
        </p:nvSpPr>
        <p:spPr bwMode="auto">
          <a:xfrm flipV="1">
            <a:off x="5308325" y="3412841"/>
            <a:ext cx="0" cy="5715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>
            <a:off x="4565375" y="3984340"/>
            <a:ext cx="38837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 dirty="0">
                <a:solidFill>
                  <a:srgbClr val="008000"/>
                </a:solidFill>
                <a:latin typeface="Tahoma" charset="0"/>
              </a:rPr>
              <a:t>RT</a:t>
            </a:r>
          </a:p>
        </p:txBody>
      </p:sp>
      <p:sp>
        <p:nvSpPr>
          <p:cNvPr id="29" name="Text Box 42"/>
          <p:cNvSpPr txBox="1">
            <a:spLocks noChangeArrowheads="1"/>
          </p:cNvSpPr>
          <p:nvPr/>
        </p:nvSpPr>
        <p:spPr bwMode="auto">
          <a:xfrm>
            <a:off x="5308325" y="3527140"/>
            <a:ext cx="49648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 dirty="0">
                <a:solidFill>
                  <a:srgbClr val="008000"/>
                </a:solidFill>
                <a:latin typeface="Tahoma" charset="0"/>
              </a:rPr>
              <a:t>GPA</a:t>
            </a:r>
          </a:p>
        </p:txBody>
      </p:sp>
      <p:sp>
        <p:nvSpPr>
          <p:cNvPr id="30" name="Text Box 43"/>
          <p:cNvSpPr txBox="1">
            <a:spLocks noChangeArrowheads="1"/>
          </p:cNvSpPr>
          <p:nvPr/>
        </p:nvSpPr>
        <p:spPr bwMode="auto">
          <a:xfrm>
            <a:off x="5422625" y="4155790"/>
            <a:ext cx="161294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 dirty="0">
                <a:solidFill>
                  <a:srgbClr val="008000"/>
                </a:solidFill>
                <a:latin typeface="Tahoma" charset="0"/>
              </a:rPr>
              <a:t>=slope (=GPA/RT)</a:t>
            </a:r>
          </a:p>
        </p:txBody>
      </p:sp>
      <p:sp>
        <p:nvSpPr>
          <p:cNvPr id="34" name="Text Box 47"/>
          <p:cNvSpPr txBox="1">
            <a:spLocks noChangeArrowheads="1"/>
          </p:cNvSpPr>
          <p:nvPr/>
        </p:nvSpPr>
        <p:spPr bwMode="auto">
          <a:xfrm>
            <a:off x="1822175" y="4670140"/>
            <a:ext cx="11295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 dirty="0">
                <a:solidFill>
                  <a:srgbClr val="0000FF"/>
                </a:solidFill>
                <a:latin typeface="Tahoma" charset="0"/>
              </a:rPr>
              <a:t>=y-intercept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224672"/>
              </p:ext>
            </p:extLst>
          </p:nvPr>
        </p:nvGraphicFramePr>
        <p:xfrm>
          <a:off x="2156274" y="4234120"/>
          <a:ext cx="452812" cy="405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700" imgH="139700" progId="Equation.3">
                  <p:embed/>
                </p:oleObj>
              </mc:Choice>
              <mc:Fallback>
                <p:oleObj name="Equation" r:id="rId3" imgW="139700" imgH="139700" progId="Equation.3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56274" y="4234120"/>
                        <a:ext cx="452812" cy="405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516139"/>
              </p:ext>
            </p:extLst>
          </p:nvPr>
        </p:nvGraphicFramePr>
        <p:xfrm>
          <a:off x="5106470" y="4093877"/>
          <a:ext cx="460933" cy="487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00" imgH="203200" progId="Equation.3">
                  <p:embed/>
                </p:oleObj>
              </mc:Choice>
              <mc:Fallback>
                <p:oleObj name="Equation" r:id="rId5" imgW="139700" imgH="203200" progId="Equation.3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06470" y="4093877"/>
                        <a:ext cx="460933" cy="487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541453"/>
              </p:ext>
            </p:extLst>
          </p:nvPr>
        </p:nvGraphicFramePr>
        <p:xfrm>
          <a:off x="3740350" y="5156949"/>
          <a:ext cx="1973978" cy="412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52500" imgH="215900" progId="Equation.3">
                  <p:embed/>
                </p:oleObj>
              </mc:Choice>
              <mc:Fallback>
                <p:oleObj name="Equation" r:id="rId7" imgW="952500" imgH="215900" progId="Equation.3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40350" y="5156949"/>
                        <a:ext cx="1973978" cy="412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Arrow Connector 3"/>
          <p:cNvCxnSpPr/>
          <p:nvPr/>
        </p:nvCxnSpPr>
        <p:spPr>
          <a:xfrm flipV="1">
            <a:off x="2908025" y="2637934"/>
            <a:ext cx="0" cy="2414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2917550" y="5041994"/>
            <a:ext cx="3543300" cy="281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7596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88" y="231460"/>
            <a:ext cx="7766050" cy="1150353"/>
          </a:xfrm>
        </p:spPr>
        <p:txBody>
          <a:bodyPr/>
          <a:lstStyle/>
          <a:p>
            <a:r>
              <a:rPr lang="en-US" b="1" dirty="0"/>
              <a:t>Estimating the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0138" y="1382877"/>
                <a:ext cx="7366088" cy="36886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We estimate </a:t>
                </a:r>
                <a:r>
                  <a:rPr lang="en-US" sz="1800" i="1" dirty="0">
                    <a:latin typeface="Symbol" charset="2"/>
                    <a:cs typeface="Symbol" charset="2"/>
                  </a:rPr>
                  <a:t>a</a:t>
                </a:r>
                <a:r>
                  <a:rPr lang="en-US" sz="1800" dirty="0"/>
                  <a:t> (the y-intercept) using a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/>
                  <a:t> (the slope) of the regression line given by: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lvl="1"/>
                <a:r>
                  <a:rPr lang="en-US" sz="1800" dirty="0"/>
                  <a:t>This is an application of the least squares method, and it produces a straight line that minimizes the sum of the squared differences between the points and the line.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138" y="1382877"/>
                <a:ext cx="7366088" cy="3688699"/>
              </a:xfrm>
              <a:blipFill>
                <a:blip r:embed="rId3"/>
                <a:stretch>
                  <a:fillRect l="-745" t="-992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63" y="1240465"/>
            <a:ext cx="185738" cy="4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620529"/>
              </p:ext>
            </p:extLst>
          </p:nvPr>
        </p:nvGraphicFramePr>
        <p:xfrm>
          <a:off x="3238588" y="2372328"/>
          <a:ext cx="2209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215900" progId="Equation.3">
                  <p:embed/>
                </p:oleObj>
              </mc:Choice>
              <mc:Fallback>
                <p:oleObj name="Equation" r:id="rId5" imgW="685800" imgH="21590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88" y="2372328"/>
                        <a:ext cx="2209800" cy="69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3840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242"/>
            <a:ext cx="7766050" cy="1150353"/>
          </a:xfrm>
        </p:spPr>
        <p:txBody>
          <a:bodyPr/>
          <a:lstStyle/>
          <a:p>
            <a:r>
              <a:rPr lang="en-US" b="1" dirty="0"/>
              <a:t>Least squares line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6"/>
          <a:stretch/>
        </p:blipFill>
        <p:spPr bwMode="auto">
          <a:xfrm>
            <a:off x="1799036" y="1862821"/>
            <a:ext cx="5545931" cy="334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2752725" y="4018209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3505200" y="4170609"/>
            <a:ext cx="0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267200" y="3503859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010150" y="3465759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772150" y="2170359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6515100" y="274185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 rot="20079879">
            <a:off x="2234571" y="2487944"/>
            <a:ext cx="436048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 dirty="0">
                <a:solidFill>
                  <a:srgbClr val="0000FF"/>
                </a:solidFill>
                <a:latin typeface="Tahoma" charset="0"/>
              </a:rPr>
              <a:t>This line minimizes the sum of the squared differences</a:t>
            </a:r>
          </a:p>
          <a:p>
            <a:r>
              <a:rPr lang="en-US" sz="1350" dirty="0">
                <a:solidFill>
                  <a:srgbClr val="0000FF"/>
                </a:solidFill>
                <a:latin typeface="Tahoma" charset="0"/>
              </a:rPr>
              <a:t>between the points and the line.</a:t>
            </a:r>
          </a:p>
        </p:txBody>
      </p:sp>
      <p:grpSp>
        <p:nvGrpSpPr>
          <p:cNvPr id="12" name="Group 16"/>
          <p:cNvGrpSpPr>
            <a:grpSpLocks/>
          </p:cNvGrpSpPr>
          <p:nvPr/>
        </p:nvGrpSpPr>
        <p:grpSpPr bwMode="auto">
          <a:xfrm>
            <a:off x="5200651" y="3415754"/>
            <a:ext cx="69056" cy="69056"/>
            <a:chOff x="4944" y="192"/>
            <a:chExt cx="192" cy="96"/>
          </a:xfrm>
        </p:grpSpPr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4944" y="192"/>
              <a:ext cx="96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5040" y="192"/>
              <a:ext cx="96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1371600" y="2443892"/>
            <a:ext cx="1771650" cy="50783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350" dirty="0">
                <a:solidFill>
                  <a:srgbClr val="800080"/>
                </a:solidFill>
                <a:latin typeface="Tahoma" charset="0"/>
              </a:rPr>
              <a:t>these differences are called </a:t>
            </a:r>
            <a:r>
              <a:rPr lang="en-US" sz="1350" b="1" i="1" dirty="0">
                <a:solidFill>
                  <a:srgbClr val="800080"/>
                </a:solidFill>
                <a:latin typeface="Tahoma" charset="0"/>
              </a:rPr>
              <a:t>residuals</a:t>
            </a:r>
            <a:endParaRPr lang="en-US" sz="1350" dirty="0">
              <a:solidFill>
                <a:srgbClr val="800080"/>
              </a:solidFill>
              <a:latin typeface="Tahoma" charset="0"/>
            </a:endParaRPr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2190750" y="2913309"/>
            <a:ext cx="552450" cy="1314450"/>
          </a:xfrm>
          <a:custGeom>
            <a:avLst/>
            <a:gdLst>
              <a:gd name="T0" fmla="*/ 2147483647 w 464"/>
              <a:gd name="T1" fmla="*/ 0 h 1104"/>
              <a:gd name="T2" fmla="*/ 2147483647 w 464"/>
              <a:gd name="T3" fmla="*/ 2147483647 h 1104"/>
              <a:gd name="T4" fmla="*/ 2147483647 w 464"/>
              <a:gd name="T5" fmla="*/ 2147483647 h 1104"/>
              <a:gd name="T6" fmla="*/ 0 60000 65536"/>
              <a:gd name="T7" fmla="*/ 0 60000 65536"/>
              <a:gd name="T8" fmla="*/ 0 60000 65536"/>
              <a:gd name="T9" fmla="*/ 0 w 464"/>
              <a:gd name="T10" fmla="*/ 0 h 1104"/>
              <a:gd name="T11" fmla="*/ 464 w 464"/>
              <a:gd name="T12" fmla="*/ 1104 h 11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4" h="1104">
                <a:moveTo>
                  <a:pt x="272" y="0"/>
                </a:moveTo>
                <a:cubicBezTo>
                  <a:pt x="136" y="196"/>
                  <a:pt x="0" y="392"/>
                  <a:pt x="32" y="576"/>
                </a:cubicBezTo>
                <a:cubicBezTo>
                  <a:pt x="64" y="760"/>
                  <a:pt x="264" y="932"/>
                  <a:pt x="464" y="1104"/>
                </a:cubicBezTo>
              </a:path>
            </a:pathLst>
          </a:custGeom>
          <a:noFill/>
          <a:ln w="9525">
            <a:solidFill>
              <a:srgbClr val="80008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90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679"/>
            <a:ext cx="7766050" cy="1150353"/>
          </a:xfrm>
        </p:spPr>
        <p:txBody>
          <a:bodyPr>
            <a:normAutofit/>
          </a:bodyPr>
          <a:lstStyle/>
          <a:p>
            <a:r>
              <a:rPr lang="en-US" b="1" dirty="0"/>
              <a:t>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2883401"/>
            <a:ext cx="6871022" cy="2475677"/>
          </a:xfrm>
        </p:spPr>
        <p:txBody>
          <a:bodyPr>
            <a:noAutofit/>
          </a:bodyPr>
          <a:lstStyle/>
          <a:p>
            <a:r>
              <a:rPr lang="en-US" sz="2000" dirty="0"/>
              <a:t>Linearity of dependent variable (Y) and independent variables (x</a:t>
            </a:r>
            <a:r>
              <a:rPr lang="en-US" sz="2000" baseline="-25000" dirty="0"/>
              <a:t>i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r>
              <a:rPr lang="en-US" sz="2000" dirty="0"/>
              <a:t>Residuals:</a:t>
            </a:r>
          </a:p>
          <a:p>
            <a:pPr lvl="1"/>
            <a:r>
              <a:rPr lang="en-US" sz="1800" dirty="0"/>
              <a:t>normally distributed</a:t>
            </a:r>
          </a:p>
          <a:p>
            <a:pPr lvl="1"/>
            <a:r>
              <a:rPr lang="en-US" sz="1800" dirty="0"/>
              <a:t>constant variance </a:t>
            </a:r>
            <a:r>
              <a:rPr lang="en-US" sz="1800" dirty="0">
                <a:sym typeface="Wingdings" panose="05000000000000000000" pitchFamily="2" charset="2"/>
              </a:rPr>
              <a:t> homoscedasticity</a:t>
            </a:r>
            <a:endParaRPr lang="en-US" sz="1800" dirty="0"/>
          </a:p>
          <a:p>
            <a:pPr lvl="1"/>
            <a:r>
              <a:rPr lang="en-US" sz="1800" dirty="0"/>
              <a:t>mutually uncorrelated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2116143" y="1129931"/>
            <a:ext cx="3748562" cy="1391979"/>
            <a:chOff x="1588834" y="4329863"/>
            <a:chExt cx="4998083" cy="1855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/>
                <p:cNvSpPr/>
                <p:nvPr/>
              </p:nvSpPr>
              <p:spPr>
                <a:xfrm>
                  <a:off x="1588834" y="5447171"/>
                  <a:ext cx="1445959" cy="73866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  ~  </m:t>
                        </m:r>
                        <m: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  <m: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(0, </m:t>
                        </m:r>
                        <m:sSup>
                          <m:sSupPr>
                            <m:ctrlP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  <m: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16" name="직사각형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8834" y="5447171"/>
                  <a:ext cx="1445959" cy="738664"/>
                </a:xfrm>
                <a:prstGeom prst="rect">
                  <a:avLst/>
                </a:prstGeom>
                <a:blipFill>
                  <a:blip r:embed="rId3"/>
                  <a:stretch>
                    <a:fillRect r="-115730"/>
                  </a:stretch>
                </a:blipFill>
              </p:spPr>
              <p:txBody>
                <a:bodyPr/>
                <a:lstStyle/>
                <a:p>
                  <a:r>
                    <a:rPr lang="es-V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" name="Object 14"/>
                <p:cNvGraphicFramePr>
                  <a:graphicFrameLocks noChangeAspect="1"/>
                </p:cNvGraphicFramePr>
                <p:nvPr/>
              </p:nvGraphicFramePr>
              <p:xfrm>
                <a:off x="1588834" y="4329863"/>
                <a:ext cx="4998083" cy="1043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수식" r:id="rId4" imgW="952500" imgH="215900" progId="Equation.3">
                        <p:embed/>
                      </p:oleObj>
                    </mc:Choice>
                    <mc:Fallback>
                      <p:oleObj name="수식" r:id="rId4" imgW="952500" imgH="215900" progId="Equation.3">
                        <p:embed/>
                        <p:pic>
                          <p:nvPicPr>
                            <p:cNvPr id="17" name="Object 14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588834" y="4329863"/>
                              <a:ext cx="4998083" cy="1043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" name="Object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63108490"/>
                    </p:ext>
                  </p:extLst>
                </p:nvPr>
              </p:nvGraphicFramePr>
              <p:xfrm>
                <a:off x="1588834" y="4329863"/>
                <a:ext cx="4998083" cy="1043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9232" name="수식" r:id="rId6" imgW="952500" imgH="215900" progId="Equation.3">
                        <p:embed/>
                      </p:oleObj>
                    </mc:Choice>
                    <mc:Fallback>
                      <p:oleObj name="수식" r:id="rId6" imgW="952500" imgH="215900" progId="Equation.3">
                        <p:embed/>
                        <p:pic>
                          <p:nvPicPr>
                            <p:cNvPr id="15" name="Object 14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588834" y="4329863"/>
                              <a:ext cx="4998083" cy="1043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57225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460" y="2648118"/>
            <a:ext cx="2918122" cy="749054"/>
          </a:xfrm>
        </p:spPr>
        <p:txBody>
          <a:bodyPr/>
          <a:lstStyle/>
          <a:p>
            <a:r>
              <a:rPr lang="en-US" dirty="0"/>
              <a:t>Using Stata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4304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283" y="237689"/>
            <a:ext cx="7270203" cy="749054"/>
          </a:xfrm>
        </p:spPr>
        <p:txBody>
          <a:bodyPr/>
          <a:lstStyle/>
          <a:p>
            <a:r>
              <a:rPr lang="en-US" sz="4400" b="1" dirty="0" err="1">
                <a:solidFill>
                  <a:srgbClr val="1A3561"/>
                </a:solidFill>
                <a:latin typeface="Open Sans ExtraBold"/>
                <a:cs typeface="Open Sans ExtraBold"/>
              </a:rPr>
              <a:t>eLumin</a:t>
            </a:r>
            <a:r>
              <a:rPr lang="en-US" sz="4400" b="1" spc="-35" dirty="0">
                <a:solidFill>
                  <a:srgbClr val="1A3561"/>
                </a:solidFill>
                <a:latin typeface="Open Sans ExtraBold"/>
                <a:cs typeface="Open Sans ExtraBold"/>
              </a:rPr>
              <a:t> </a:t>
            </a:r>
            <a:r>
              <a:rPr lang="en-US" sz="4400" b="1" dirty="0">
                <a:solidFill>
                  <a:srgbClr val="1A3561"/>
                </a:solidFill>
                <a:latin typeface="Open Sans ExtraBold"/>
                <a:cs typeface="Open Sans ExtraBold"/>
              </a:rPr>
              <a:t>Virtual</a:t>
            </a:r>
            <a:r>
              <a:rPr lang="en-US" sz="4400" b="1" spc="-25" dirty="0">
                <a:solidFill>
                  <a:srgbClr val="1A3561"/>
                </a:solidFill>
                <a:latin typeface="Open Sans ExtraBold"/>
                <a:cs typeface="Open Sans ExtraBold"/>
              </a:rPr>
              <a:t> </a:t>
            </a:r>
            <a:r>
              <a:rPr lang="en-US" sz="4400" b="1" spc="-10" dirty="0">
                <a:solidFill>
                  <a:srgbClr val="1A3561"/>
                </a:solidFill>
                <a:latin typeface="Open Sans ExtraBold"/>
                <a:cs typeface="Open Sans ExtraBold"/>
              </a:rPr>
              <a:t>Machine</a:t>
            </a:r>
            <a:br>
              <a:rPr lang="en-US" sz="4400" dirty="0">
                <a:latin typeface="Open Sans ExtraBold"/>
                <a:cs typeface="Open Sans ExtraBold"/>
              </a:rPr>
            </a:br>
            <a:endParaRPr lang="es-V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759CF-69CE-6798-6BD2-F2147C19AA97}"/>
              </a:ext>
            </a:extLst>
          </p:cNvPr>
          <p:cNvSpPr txBox="1"/>
          <p:nvPr/>
        </p:nvSpPr>
        <p:spPr>
          <a:xfrm>
            <a:off x="983846" y="1838984"/>
            <a:ext cx="673646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57200">
              <a:spcBef>
                <a:spcPts val="1600"/>
              </a:spcBef>
              <a:buAutoNum type="arabicPeriod"/>
              <a:tabLst>
                <a:tab pos="4699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Access</a:t>
            </a:r>
            <a:r>
              <a:rPr lang="en-US" sz="215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remote</a:t>
            </a:r>
            <a:r>
              <a:rPr lang="en-US" sz="215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spc="-10" dirty="0">
                <a:solidFill>
                  <a:srgbClr val="2D637F"/>
                </a:solidFill>
                <a:latin typeface="Lucida Grande"/>
                <a:cs typeface="Open Sans"/>
              </a:rPr>
              <a:t>desktop</a:t>
            </a:r>
            <a:endParaRPr lang="en-US" sz="215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469900" indent="-457200">
              <a:spcBef>
                <a:spcPts val="10"/>
              </a:spcBef>
              <a:buAutoNum type="arabicPeriod"/>
              <a:tabLst>
                <a:tab pos="4699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Connect</a:t>
            </a:r>
            <a:r>
              <a:rPr lang="en-US" sz="215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to</a:t>
            </a:r>
            <a:r>
              <a:rPr lang="en-US" sz="215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Google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Drive</a:t>
            </a:r>
          </a:p>
          <a:p>
            <a:pPr marL="927100" lvl="1" indent="-448309">
              <a:spcBef>
                <a:spcPts val="15"/>
              </a:spcBef>
              <a:buClr>
                <a:srgbClr val="000000"/>
              </a:buClr>
              <a:buSzPct val="97674"/>
              <a:buAutoNum type="alphaLcPeriod"/>
              <a:tabLst>
                <a:tab pos="9271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Sign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in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with</a:t>
            </a:r>
            <a:r>
              <a:rPr lang="en-US" sz="2150" spc="-1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spc="-10" dirty="0">
                <a:solidFill>
                  <a:srgbClr val="2D637F"/>
                </a:solidFill>
                <a:latin typeface="Lucida Grande"/>
                <a:cs typeface="Open Sans"/>
              </a:rPr>
              <a:t>Browser</a:t>
            </a:r>
            <a:endParaRPr lang="en-US" sz="215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927100" lvl="1" indent="-463550">
              <a:spcBef>
                <a:spcPts val="10"/>
              </a:spcBef>
              <a:buClr>
                <a:srgbClr val="000000"/>
              </a:buClr>
              <a:buSzPct val="97674"/>
              <a:buAutoNum type="alphaLcPeriod"/>
              <a:tabLst>
                <a:tab pos="9271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Success!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spc="-10" dirty="0">
                <a:solidFill>
                  <a:srgbClr val="2D637F"/>
                </a:solidFill>
                <a:latin typeface="Lucida Grande"/>
                <a:cs typeface="Open Sans"/>
              </a:rPr>
              <a:t>(Pop-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up</a:t>
            </a:r>
            <a:r>
              <a:rPr lang="en-US" sz="2150" spc="-10" dirty="0">
                <a:solidFill>
                  <a:srgbClr val="2D637F"/>
                </a:solidFill>
                <a:latin typeface="Lucida Grande"/>
                <a:cs typeface="Open Sans"/>
              </a:rPr>
              <a:t> Window)</a:t>
            </a:r>
            <a:endParaRPr lang="en-US" sz="215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469900" indent="-457200">
              <a:spcBef>
                <a:spcPts val="10"/>
              </a:spcBef>
              <a:buAutoNum type="arabicPeriod"/>
              <a:tabLst>
                <a:tab pos="4699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Set</a:t>
            </a:r>
            <a:r>
              <a:rPr lang="en-US" sz="2150" spc="-1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up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a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folder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on</a:t>
            </a:r>
            <a:r>
              <a:rPr lang="en-US" sz="2150" spc="-1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spc="-25" dirty="0">
                <a:solidFill>
                  <a:srgbClr val="2D637F"/>
                </a:solidFill>
                <a:latin typeface="Lucida Grande"/>
                <a:cs typeface="Open Sans"/>
              </a:rPr>
              <a:t>Google Drive</a:t>
            </a:r>
            <a:endParaRPr lang="en-US" sz="215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469900" marR="5080" indent="-457834">
              <a:lnSpc>
                <a:spcPct val="100499"/>
              </a:lnSpc>
              <a:buAutoNum type="arabicPeriod"/>
              <a:tabLst>
                <a:tab pos="4699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Download</a:t>
            </a:r>
            <a:r>
              <a:rPr lang="en-US" sz="2150" spc="-2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b="1" dirty="0">
                <a:solidFill>
                  <a:srgbClr val="2D637F"/>
                </a:solidFill>
                <a:latin typeface="Lucida Grande"/>
                <a:cs typeface="Open Sans ExtraBold"/>
              </a:rPr>
              <a:t>lab01.do</a:t>
            </a:r>
            <a:r>
              <a:rPr lang="en-US" sz="2150" b="1" spc="-25" dirty="0">
                <a:solidFill>
                  <a:srgbClr val="2D637F"/>
                </a:solidFill>
                <a:latin typeface="Lucida Grande"/>
                <a:cs typeface="Open Sans ExtraBold"/>
              </a:rPr>
              <a:t> </a:t>
            </a:r>
            <a:r>
              <a:rPr lang="en-US" sz="2150" b="1" dirty="0">
                <a:solidFill>
                  <a:srgbClr val="2D637F"/>
                </a:solidFill>
                <a:latin typeface="Lucida Grande"/>
                <a:cs typeface="Open Sans ExtraBold"/>
              </a:rPr>
              <a:t>ﬁle</a:t>
            </a:r>
            <a:r>
              <a:rPr lang="en-US" sz="2150" b="1" spc="-20" dirty="0">
                <a:solidFill>
                  <a:srgbClr val="2D637F"/>
                </a:solidFill>
                <a:latin typeface="Lucida Grande"/>
                <a:cs typeface="Open Sans ExtraBold"/>
              </a:rPr>
              <a:t> </a:t>
            </a:r>
            <a:r>
              <a:rPr lang="en-US" sz="2150" spc="-50" dirty="0">
                <a:solidFill>
                  <a:srgbClr val="2D637F"/>
                </a:solidFill>
                <a:latin typeface="Lucida Grande"/>
                <a:cs typeface="Open Sans"/>
              </a:rPr>
              <a:t>&amp; </a:t>
            </a:r>
            <a:r>
              <a:rPr lang="en-US" sz="2150" b="1" dirty="0" err="1">
                <a:solidFill>
                  <a:srgbClr val="2D637F"/>
                </a:solidFill>
                <a:latin typeface="Lucida Grande"/>
                <a:cs typeface="Open Sans ExtraBold"/>
              </a:rPr>
              <a:t>instruction.dta</a:t>
            </a:r>
            <a:r>
              <a:rPr lang="en-US" sz="2150" b="1" spc="-40" dirty="0">
                <a:solidFill>
                  <a:srgbClr val="2D637F"/>
                </a:solidFill>
                <a:latin typeface="Lucida Grande"/>
                <a:cs typeface="Open Sans ExtraBold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from</a:t>
            </a:r>
            <a:r>
              <a:rPr lang="en-US" sz="2150" spc="-3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 err="1">
                <a:solidFill>
                  <a:srgbClr val="2D637F"/>
                </a:solidFill>
                <a:latin typeface="Lucida Grande"/>
                <a:cs typeface="Open Sans"/>
              </a:rPr>
              <a:t>Bcourse</a:t>
            </a:r>
            <a:r>
              <a:rPr lang="en-US" sz="215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and</a:t>
            </a:r>
            <a:r>
              <a:rPr lang="en-US" sz="2150" spc="-3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save</a:t>
            </a:r>
            <a:r>
              <a:rPr lang="en-US" sz="2150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spc="-25" dirty="0">
                <a:solidFill>
                  <a:srgbClr val="2D637F"/>
                </a:solidFill>
                <a:latin typeface="Lucida Grande"/>
                <a:cs typeface="Open Sans"/>
              </a:rPr>
              <a:t>it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to</a:t>
            </a:r>
            <a:r>
              <a:rPr lang="en-US" sz="2150" spc="-1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your</a:t>
            </a:r>
            <a:r>
              <a:rPr lang="en-US" sz="2150" spc="-15" dirty="0">
                <a:solidFill>
                  <a:srgbClr val="2D637F"/>
                </a:solidFill>
                <a:latin typeface="Lucida Grande"/>
                <a:cs typeface="Open Sans"/>
              </a:rPr>
              <a:t> Google Drive folder</a:t>
            </a:r>
            <a:endParaRPr lang="en-US" sz="2150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469900" indent="-457200">
              <a:spcBef>
                <a:spcPts val="15"/>
              </a:spcBef>
              <a:buAutoNum type="arabicPeriod"/>
              <a:tabLst>
                <a:tab pos="469900" algn="l"/>
              </a:tabLst>
            </a:pPr>
            <a:r>
              <a:rPr lang="en-US" sz="2150" dirty="0">
                <a:solidFill>
                  <a:srgbClr val="2D637F"/>
                </a:solidFill>
                <a:latin typeface="Lucida Grande"/>
                <a:cs typeface="Open Sans"/>
              </a:rPr>
              <a:t>Open</a:t>
            </a:r>
            <a:r>
              <a:rPr lang="en-US" sz="2150" spc="-2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z="2150" dirty="0" err="1">
                <a:solidFill>
                  <a:srgbClr val="2D637F"/>
                </a:solidFill>
                <a:latin typeface="Lucida Grande"/>
                <a:cs typeface="Open Sans"/>
              </a:rPr>
              <a:t>StataBE</a:t>
            </a:r>
            <a:r>
              <a:rPr lang="en-US" sz="2150" spc="-25" dirty="0">
                <a:solidFill>
                  <a:srgbClr val="2D637F"/>
                </a:solidFill>
                <a:latin typeface="Lucida Grande"/>
                <a:cs typeface="Open Sans"/>
              </a:rPr>
              <a:t> 17</a:t>
            </a:r>
            <a:endParaRPr lang="en-US" sz="2150" dirty="0">
              <a:solidFill>
                <a:srgbClr val="2D637F"/>
              </a:solidFill>
              <a:latin typeface="Lucida Grande"/>
              <a:cs typeface="Open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3700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283" y="237689"/>
            <a:ext cx="1610183" cy="749054"/>
          </a:xfrm>
        </p:spPr>
        <p:txBody>
          <a:bodyPr/>
          <a:lstStyle/>
          <a:p>
            <a:r>
              <a:rPr lang="en-US" dirty="0"/>
              <a:t>Setup</a:t>
            </a:r>
            <a:endParaRPr lang="es-V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FB73A-F55F-AE29-0E61-6AD5D16F4C4A}"/>
              </a:ext>
            </a:extLst>
          </p:cNvPr>
          <p:cNvSpPr txBox="1"/>
          <p:nvPr/>
        </p:nvSpPr>
        <p:spPr>
          <a:xfrm>
            <a:off x="554282" y="1303308"/>
            <a:ext cx="8138305" cy="113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475"/>
              </a:spcBef>
            </a:pP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Step</a:t>
            </a:r>
            <a:r>
              <a:rPr lang="en-US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1:</a:t>
            </a:r>
            <a:r>
              <a:rPr lang="en-US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Go</a:t>
            </a:r>
            <a:r>
              <a:rPr lang="en-US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to</a:t>
            </a:r>
            <a:r>
              <a:rPr lang="en-US" spc="-3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pc="-20" dirty="0" err="1">
                <a:solidFill>
                  <a:srgbClr val="2D637F"/>
                </a:solidFill>
                <a:latin typeface="Lucida Grande"/>
                <a:cs typeface="Open Sans"/>
              </a:rPr>
              <a:t>bC</a:t>
            </a:r>
            <a:r>
              <a:rPr lang="en-US" spc="-10" dirty="0" err="1">
                <a:solidFill>
                  <a:srgbClr val="2D637F"/>
                </a:solidFill>
                <a:latin typeface="Lucida Grande"/>
                <a:cs typeface="Open Sans"/>
              </a:rPr>
              <a:t>ourses</a:t>
            </a:r>
            <a:endParaRPr lang="en-US" dirty="0">
              <a:solidFill>
                <a:srgbClr val="2D637F"/>
              </a:solidFill>
              <a:latin typeface="Lucida Grande"/>
              <a:cs typeface="Open Sans"/>
            </a:endParaRPr>
          </a:p>
          <a:p>
            <a:pPr marL="12700" marR="487680">
              <a:lnSpc>
                <a:spcPct val="147300"/>
              </a:lnSpc>
            </a:pP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Step</a:t>
            </a:r>
            <a:r>
              <a:rPr lang="en-US" spc="-5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2:</a:t>
            </a:r>
            <a:r>
              <a:rPr lang="en-US" spc="-5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Download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 err="1">
                <a:solidFill>
                  <a:srgbClr val="2D637F"/>
                </a:solidFill>
                <a:latin typeface="Lucida Grande"/>
                <a:cs typeface="Open Sans"/>
              </a:rPr>
              <a:t>instruction.dta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, lab01.do,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and</a:t>
            </a:r>
            <a:r>
              <a:rPr lang="en-US" spc="-5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pc="-10" dirty="0">
                <a:solidFill>
                  <a:srgbClr val="2D637F"/>
                </a:solidFill>
                <a:latin typeface="Lucida Grande"/>
                <a:cs typeface="Open Sans"/>
              </a:rPr>
              <a:t>instruction_codebook.</a:t>
            </a:r>
            <a:r>
              <a:rPr lang="en-US" spc="-25" dirty="0">
                <a:solidFill>
                  <a:srgbClr val="2D637F"/>
                </a:solidFill>
                <a:latin typeface="Lucida Grande"/>
                <a:cs typeface="Open Sans"/>
              </a:rPr>
              <a:t>pdf </a:t>
            </a:r>
          </a:p>
          <a:p>
            <a:pPr marL="12700" marR="487680">
              <a:lnSpc>
                <a:spcPct val="147300"/>
              </a:lnSpc>
            </a:pP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Step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3: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Read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the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pdf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and</a:t>
            </a:r>
            <a:r>
              <a:rPr lang="en-US" spc="-45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dirty="0">
                <a:solidFill>
                  <a:srgbClr val="2D637F"/>
                </a:solidFill>
                <a:latin typeface="Lucida Grande"/>
                <a:cs typeface="Open Sans"/>
              </a:rPr>
              <a:t>open</a:t>
            </a:r>
            <a:r>
              <a:rPr lang="en-US" spc="-40" dirty="0">
                <a:solidFill>
                  <a:srgbClr val="2D637F"/>
                </a:solidFill>
                <a:latin typeface="Lucida Grande"/>
                <a:cs typeface="Open Sans"/>
              </a:rPr>
              <a:t> </a:t>
            </a:r>
            <a:r>
              <a:rPr lang="en-US" spc="-10" dirty="0">
                <a:solidFill>
                  <a:srgbClr val="2D637F"/>
                </a:solidFill>
                <a:latin typeface="Lucida Grande"/>
                <a:cs typeface="Open Sans"/>
              </a:rPr>
              <a:t>do file in Stata</a:t>
            </a:r>
            <a:endParaRPr lang="en-US" dirty="0">
              <a:solidFill>
                <a:srgbClr val="2D637F"/>
              </a:solidFill>
              <a:latin typeface="Lucida Grande"/>
              <a:cs typeface="Open San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716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55" y="2648118"/>
            <a:ext cx="6332654" cy="749054"/>
          </a:xfrm>
        </p:spPr>
        <p:txBody>
          <a:bodyPr/>
          <a:lstStyle/>
          <a:p>
            <a:r>
              <a:rPr lang="en-US" dirty="0"/>
              <a:t>Interpreting Stata Output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7175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2FF0-0B3A-404E-918B-CB189FB1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08378"/>
            <a:ext cx="7766050" cy="1150353"/>
          </a:xfrm>
        </p:spPr>
        <p:txBody>
          <a:bodyPr/>
          <a:lstStyle/>
          <a:p>
            <a:r>
              <a:rPr lang="en-US" dirty="0"/>
              <a:t>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9320B-1358-423A-8E41-6537C73D0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75198"/>
            <a:ext cx="8173232" cy="1072224"/>
          </a:xfrm>
        </p:spPr>
        <p:txBody>
          <a:bodyPr>
            <a:noAutofit/>
          </a:bodyPr>
          <a:lstStyle/>
          <a:p>
            <a:r>
              <a:rPr lang="en-US" dirty="0"/>
              <a:t>Independent samples t-test examines the differences between minority and non-minority students on mean math scores.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9C4523-E563-4CAB-B178-F560FE9D2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901" y="2168619"/>
            <a:ext cx="6740872" cy="32712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6975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2FF0-0B3A-404E-918B-CB189FB1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766050" cy="1150353"/>
          </a:xfrm>
        </p:spPr>
        <p:txBody>
          <a:bodyPr/>
          <a:lstStyle/>
          <a:p>
            <a:r>
              <a:rPr lang="en-US" dirty="0"/>
              <a:t>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9320B-1358-423A-8E41-6537C73D0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5124"/>
            <a:ext cx="8173232" cy="787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Are there are significant differences between male and female students on mean math scores?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9C4523-E563-4CAB-B178-F560FE9D2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901" y="2029723"/>
            <a:ext cx="6740872" cy="32712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3334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3EA3-E6E1-4D3A-9D29-F3E74AB7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760"/>
            <a:ext cx="7766050" cy="1150353"/>
          </a:xfrm>
        </p:spPr>
        <p:txBody>
          <a:bodyPr/>
          <a:lstStyle/>
          <a:p>
            <a:r>
              <a:rPr lang="en-US" dirty="0"/>
              <a:t>Simple linear regression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5A1D73-BAE3-4340-8B07-358CEBE7B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89421" y="2136300"/>
            <a:ext cx="5177104" cy="2533781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C56355B-BCC4-4747-AE48-82F2BE3C7360}"/>
              </a:ext>
            </a:extLst>
          </p:cNvPr>
          <p:cNvSpPr/>
          <p:nvPr/>
        </p:nvSpPr>
        <p:spPr>
          <a:xfrm>
            <a:off x="1989421" y="3636911"/>
            <a:ext cx="5177104" cy="99417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Graphic 10" descr="Badge 1 outline">
            <a:extLst>
              <a:ext uri="{FF2B5EF4-FFF2-40B4-BE49-F238E27FC236}">
                <a16:creationId xmlns:a16="http://schemas.microsoft.com/office/drawing/2014/main" id="{7619F089-4759-463E-9802-32D8CC1145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6864" y="3636911"/>
            <a:ext cx="342557" cy="3425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D0F369A-8E2D-477A-967D-28818F9B1B49}"/>
              </a:ext>
            </a:extLst>
          </p:cNvPr>
          <p:cNvSpPr/>
          <p:nvPr/>
        </p:nvSpPr>
        <p:spPr>
          <a:xfrm>
            <a:off x="2218021" y="2720049"/>
            <a:ext cx="2748572" cy="8349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5896B-9163-4AAD-ACB2-FA4286302A05}"/>
              </a:ext>
            </a:extLst>
          </p:cNvPr>
          <p:cNvSpPr/>
          <p:nvPr/>
        </p:nvSpPr>
        <p:spPr>
          <a:xfrm>
            <a:off x="5046774" y="2519589"/>
            <a:ext cx="2034369" cy="10353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5" name="Graphic 14" descr="Badge outline">
            <a:extLst>
              <a:ext uri="{FF2B5EF4-FFF2-40B4-BE49-F238E27FC236}">
                <a16:creationId xmlns:a16="http://schemas.microsoft.com/office/drawing/2014/main" id="{6ABF1C44-3358-402E-A9B8-A0E9A8E300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0891" y="2694907"/>
            <a:ext cx="348530" cy="348530"/>
          </a:xfrm>
          <a:prstGeom prst="rect">
            <a:avLst/>
          </a:prstGeom>
        </p:spPr>
      </p:pic>
      <p:pic>
        <p:nvPicPr>
          <p:cNvPr id="17" name="Graphic 16" descr="Badge 3 outline">
            <a:extLst>
              <a:ext uri="{FF2B5EF4-FFF2-40B4-BE49-F238E27FC236}">
                <a16:creationId xmlns:a16="http://schemas.microsoft.com/office/drawing/2014/main" id="{1F1F1128-90D9-42C9-906C-3DDC5DCE17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6593" y="2085730"/>
            <a:ext cx="405765" cy="4057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0492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7732-1A07-418A-BF09-1DECADEE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679"/>
            <a:ext cx="7766050" cy="1150353"/>
          </a:xfrm>
        </p:spPr>
        <p:txBody>
          <a:bodyPr/>
          <a:lstStyle/>
          <a:p>
            <a:r>
              <a:rPr lang="en-US" b="1" dirty="0"/>
              <a:t>Regression output in Stata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EE9CB3-B1AC-4D26-898E-CA0AD7349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31" y="1288996"/>
            <a:ext cx="7977537" cy="1629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FE3321-5079-42C2-B86F-192B9D29A7D8}"/>
              </a:ext>
            </a:extLst>
          </p:cNvPr>
          <p:cNvSpPr txBox="1"/>
          <p:nvPr/>
        </p:nvSpPr>
        <p:spPr>
          <a:xfrm>
            <a:off x="1374743" y="3097558"/>
            <a:ext cx="551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Y: math achievement score in the spring of the kindergarten year</a:t>
            </a:r>
          </a:p>
          <a:p>
            <a:r>
              <a:rPr lang="en-US" sz="1600" dirty="0"/>
              <a:t>X: socioeconomic status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0AD290-4003-4489-920F-0E77F9F1783F}"/>
                  </a:ext>
                </a:extLst>
              </p:cNvPr>
              <p:cNvSpPr txBox="1"/>
              <p:nvPr/>
            </p:nvSpPr>
            <p:spPr>
              <a:xfrm>
                <a:off x="2940296" y="3861408"/>
                <a:ext cx="2799858" cy="59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600" i="1">
                        <a:latin typeface="Cambria Math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sz="1600" i="1">
                        <a:latin typeface="Cambria Math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600" i="1">
                        <a:latin typeface="Cambria Math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466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85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0AD290-4003-4489-920F-0E77F9F1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296" y="3861408"/>
                <a:ext cx="2799858" cy="598049"/>
              </a:xfrm>
              <a:prstGeom prst="rect">
                <a:avLst/>
              </a:prstGeom>
              <a:blipFill>
                <a:blip r:embed="rId5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E1B157B-ADC3-4DD5-9D3C-5572848EBDCB}"/>
              </a:ext>
            </a:extLst>
          </p:cNvPr>
          <p:cNvSpPr txBox="1"/>
          <p:nvPr/>
        </p:nvSpPr>
        <p:spPr>
          <a:xfrm>
            <a:off x="1374743" y="4662293"/>
            <a:ext cx="5986755" cy="59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INTERPRETATION</a:t>
            </a:r>
            <a:r>
              <a:rPr lang="en-US" sz="1600" b="1" dirty="0"/>
              <a:t>: </a:t>
            </a:r>
            <a:r>
              <a:rPr lang="en-US" sz="1600" dirty="0"/>
              <a:t>For every one unit increase in </a:t>
            </a:r>
            <a:r>
              <a:rPr lang="en-US" sz="1600" dirty="0" err="1"/>
              <a:t>ses</a:t>
            </a:r>
            <a:r>
              <a:rPr lang="en-US" sz="1600" dirty="0"/>
              <a:t>, the </a:t>
            </a:r>
            <a:r>
              <a:rPr lang="en-US" sz="1600" b="1" dirty="0"/>
              <a:t>mean</a:t>
            </a:r>
            <a:r>
              <a:rPr lang="en-US" sz="1600" dirty="0"/>
              <a:t> </a:t>
            </a:r>
            <a:r>
              <a:rPr lang="en-US" sz="1600" dirty="0" err="1"/>
              <a:t>math_k</a:t>
            </a:r>
            <a:r>
              <a:rPr lang="en-US" sz="1600" dirty="0"/>
              <a:t> is </a:t>
            </a:r>
            <a:r>
              <a:rPr lang="en-US" sz="1600" b="1" dirty="0"/>
              <a:t>estimated</a:t>
            </a:r>
            <a:r>
              <a:rPr lang="en-US" sz="1600" dirty="0"/>
              <a:t> to increase by 14.36</a:t>
            </a:r>
            <a:endParaRPr lang="en-US" sz="16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779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7732-1A07-418A-BF09-1DECADEE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099"/>
            <a:ext cx="7766050" cy="1150353"/>
          </a:xfrm>
        </p:spPr>
        <p:txBody>
          <a:bodyPr/>
          <a:lstStyle/>
          <a:p>
            <a:r>
              <a:rPr lang="en-US" b="1" dirty="0"/>
              <a:t>Regression output in Stata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601E11-A798-4A87-A262-B6AD9A48A5AC}"/>
                  </a:ext>
                </a:extLst>
              </p:cNvPr>
              <p:cNvSpPr txBox="1"/>
              <p:nvPr/>
            </p:nvSpPr>
            <p:spPr>
              <a:xfrm>
                <a:off x="1388880" y="3787429"/>
                <a:ext cx="1056700" cy="519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b="1" dirty="0"/>
                  <a:t>s.e.(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35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sz="1350" b="1" dirty="0"/>
                  <a:t>)=1.57</a:t>
                </a:r>
              </a:p>
              <a:p>
                <a:r>
                  <a:rPr lang="en-US" sz="1350" dirty="0" err="1"/>
                  <a:t>s.e.</a:t>
                </a:r>
                <a:r>
                  <a:rPr lang="en-US" sz="1350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n-US" sz="1350" dirty="0"/>
                  <a:t>)=1.16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601E11-A798-4A87-A262-B6AD9A48A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880" y="3787429"/>
                <a:ext cx="1056700" cy="519053"/>
              </a:xfrm>
              <a:prstGeom prst="rect">
                <a:avLst/>
              </a:prstGeom>
              <a:blipFill>
                <a:blip r:embed="rId4"/>
                <a:stretch>
                  <a:fillRect l="-1734" t="-1176" b="-11765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16C118C-5B92-4B86-AEAF-F8120E5FC26F}"/>
              </a:ext>
            </a:extLst>
          </p:cNvPr>
          <p:cNvSpPr txBox="1"/>
          <p:nvPr/>
        </p:nvSpPr>
        <p:spPr>
          <a:xfrm>
            <a:off x="1151624" y="4514449"/>
            <a:ext cx="271305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u="sng" dirty="0"/>
              <a:t>t test statistics for testing the slope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6B7F15-0130-402B-B10D-91F0AB9967B2}"/>
              </a:ext>
            </a:extLst>
          </p:cNvPr>
          <p:cNvSpPr txBox="1"/>
          <p:nvPr/>
        </p:nvSpPr>
        <p:spPr>
          <a:xfrm>
            <a:off x="1388880" y="4788064"/>
            <a:ext cx="15632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H</a:t>
            </a:r>
            <a:r>
              <a:rPr lang="en-US" sz="1350" baseline="-25000" dirty="0"/>
              <a:t>0</a:t>
            </a:r>
            <a:r>
              <a:rPr lang="en-US" sz="1350" dirty="0"/>
              <a:t>:</a:t>
            </a:r>
            <a:r>
              <a:rPr lang="en-US" sz="1350" i="1" dirty="0">
                <a:latin typeface="Symbol" charset="2"/>
                <a:cs typeface="Symbol" charset="2"/>
              </a:rPr>
              <a:t>b</a:t>
            </a:r>
            <a:r>
              <a:rPr lang="en-US" sz="1350" dirty="0"/>
              <a:t>=0   and H</a:t>
            </a:r>
            <a:r>
              <a:rPr lang="en-US" sz="1350" baseline="-25000" dirty="0"/>
              <a:t>a</a:t>
            </a:r>
            <a:r>
              <a:rPr lang="en-US" sz="1350" dirty="0"/>
              <a:t>:</a:t>
            </a:r>
            <a:r>
              <a:rPr lang="en-US" sz="1350" i="1" dirty="0">
                <a:latin typeface="Symbol" charset="2"/>
                <a:cs typeface="Symbol" charset="2"/>
              </a:rPr>
              <a:t>b</a:t>
            </a:r>
            <a:r>
              <a:rPr lang="en-US" sz="1350" dirty="0"/>
              <a:t>≠0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77699A-DE86-4B9B-B716-0A32115152ED}"/>
                  </a:ext>
                </a:extLst>
              </p:cNvPr>
              <p:cNvSpPr txBox="1"/>
              <p:nvPr/>
            </p:nvSpPr>
            <p:spPr>
              <a:xfrm>
                <a:off x="1632543" y="5077587"/>
                <a:ext cx="2400300" cy="575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charset="0"/>
                        </a:rPr>
                        <m:t>𝑡</m:t>
                      </m:r>
                      <m:r>
                        <a:rPr lang="en-US" sz="135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num>
                        <m:den>
                          <m:r>
                            <a:rPr lang="en-US" sz="1350" i="1">
                              <a:latin typeface="Cambria Math" charset="0"/>
                            </a:rPr>
                            <m:t>𝑠𝑒</m:t>
                          </m:r>
                          <m:r>
                            <a:rPr lang="en-US" sz="1350" i="1">
                              <a:latin typeface="Cambria Math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13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35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en-US" sz="1350" i="1">
                              <a:latin typeface="Cambria Math" charset="0"/>
                            </a:rPr>
                            <m:t>)</m:t>
                          </m:r>
                        </m:den>
                      </m:f>
                      <m:r>
                        <a:rPr lang="en-US" sz="135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14.36</m:t>
                          </m:r>
                        </m:num>
                        <m:den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1.57</m:t>
                          </m:r>
                        </m:den>
                      </m:f>
                      <m:r>
                        <a:rPr lang="en-US" sz="1350" i="1">
                          <a:latin typeface="Cambria Math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9.16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77699A-DE86-4B9B-B716-0A3211515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543" y="5077587"/>
                <a:ext cx="2400300" cy="5756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DA44EFE9-5252-448B-840C-AFBEE7A0F958}"/>
              </a:ext>
            </a:extLst>
          </p:cNvPr>
          <p:cNvSpPr/>
          <p:nvPr/>
        </p:nvSpPr>
        <p:spPr>
          <a:xfrm>
            <a:off x="4992816" y="3429945"/>
            <a:ext cx="3908115" cy="1131079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350" b="1" u="sng" dirty="0"/>
              <a:t>INTERPRETATION</a:t>
            </a:r>
            <a:r>
              <a:rPr lang="en-US" sz="1350" b="1" dirty="0"/>
              <a:t>: Since p-value is smaller than 0.05, we can reject the null hypothesis at the 5% level of significance. </a:t>
            </a:r>
          </a:p>
          <a:p>
            <a:endParaRPr lang="en-US" sz="1350" b="1" dirty="0"/>
          </a:p>
          <a:p>
            <a:r>
              <a:rPr lang="en-US" sz="1350" b="1" dirty="0"/>
              <a:t>=&gt; “slope is statistically significant”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B7566B-0718-E445-DA0F-B23CBED502D2}"/>
              </a:ext>
            </a:extLst>
          </p:cNvPr>
          <p:cNvGrpSpPr/>
          <p:nvPr/>
        </p:nvGrpSpPr>
        <p:grpSpPr>
          <a:xfrm>
            <a:off x="676548" y="1320018"/>
            <a:ext cx="7417351" cy="3194431"/>
            <a:chOff x="1849153" y="2013289"/>
            <a:chExt cx="4919915" cy="21188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BEE9CB3-B1AC-4D26-898E-CA0AD7349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49153" y="2046421"/>
              <a:ext cx="4919915" cy="1004939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EC25CA-1DE8-4D8B-A8E5-3BC08499C2A2}"/>
                </a:ext>
              </a:extLst>
            </p:cNvPr>
            <p:cNvSpPr/>
            <p:nvPr/>
          </p:nvSpPr>
          <p:spPr>
            <a:xfrm>
              <a:off x="3552960" y="2125266"/>
              <a:ext cx="578985" cy="774411"/>
            </a:xfrm>
            <a:prstGeom prst="ellipse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cxnSp>
          <p:nvCxnSpPr>
            <p:cNvPr id="14" name="Curved Connector 26">
              <a:extLst>
                <a:ext uri="{FF2B5EF4-FFF2-40B4-BE49-F238E27FC236}">
                  <a16:creationId xmlns:a16="http://schemas.microsoft.com/office/drawing/2014/main" id="{A92B1C14-0B8C-4C2E-B87F-1AB443277594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rot="5400000">
              <a:off x="2988699" y="2937023"/>
              <a:ext cx="918889" cy="851188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8F162E-E1BE-49B1-AF0F-9FB5D0823ADE}"/>
                </a:ext>
              </a:extLst>
            </p:cNvPr>
            <p:cNvSpPr/>
            <p:nvPr/>
          </p:nvSpPr>
          <p:spPr>
            <a:xfrm>
              <a:off x="4151185" y="2052921"/>
              <a:ext cx="420815" cy="922598"/>
            </a:xfrm>
            <a:prstGeom prst="ellipse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cxnSp>
          <p:nvCxnSpPr>
            <p:cNvPr id="17" name="Curved Connector 30">
              <a:extLst>
                <a:ext uri="{FF2B5EF4-FFF2-40B4-BE49-F238E27FC236}">
                  <a16:creationId xmlns:a16="http://schemas.microsoft.com/office/drawing/2014/main" id="{733E1632-E356-4FC2-9D63-36A605FB570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89124" y="3156301"/>
              <a:ext cx="1139685" cy="812012"/>
            </a:xfrm>
            <a:prstGeom prst="curvedConnector3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7F9186-472B-4BBA-8530-D3489ED4A9AD}"/>
                </a:ext>
              </a:extLst>
            </p:cNvPr>
            <p:cNvSpPr/>
            <p:nvPr/>
          </p:nvSpPr>
          <p:spPr>
            <a:xfrm>
              <a:off x="4572001" y="2013289"/>
              <a:ext cx="420816" cy="975490"/>
            </a:xfrm>
            <a:prstGeom prst="ellipse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D5F6EF5-0692-426F-A828-4C2B6560979C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>
              <a:off x="4782409" y="2988778"/>
              <a:ext cx="258448" cy="4061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4679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7732-1A07-418A-BF09-1DECADEE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7766050" cy="1150353"/>
          </a:xfrm>
        </p:spPr>
        <p:txBody>
          <a:bodyPr/>
          <a:lstStyle/>
          <a:p>
            <a:r>
              <a:rPr lang="en-US" b="1" dirty="0"/>
              <a:t>Regression output in Stata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C99BF-3881-1D44-C354-1B019982684C}"/>
              </a:ext>
            </a:extLst>
          </p:cNvPr>
          <p:cNvGrpSpPr/>
          <p:nvPr/>
        </p:nvGrpSpPr>
        <p:grpSpPr>
          <a:xfrm>
            <a:off x="1415721" y="1411257"/>
            <a:ext cx="6937458" cy="2231578"/>
            <a:chOff x="1849153" y="1977833"/>
            <a:chExt cx="4919915" cy="158259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BEE9CB3-B1AC-4D26-898E-CA0AD7349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49153" y="2046421"/>
              <a:ext cx="4919915" cy="1004939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EC25CA-1DE8-4D8B-A8E5-3BC08499C2A2}"/>
                </a:ext>
              </a:extLst>
            </p:cNvPr>
            <p:cNvSpPr/>
            <p:nvPr/>
          </p:nvSpPr>
          <p:spPr>
            <a:xfrm>
              <a:off x="2933830" y="2058305"/>
              <a:ext cx="578985" cy="774411"/>
            </a:xfrm>
            <a:prstGeom prst="ellipse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cxnSp>
          <p:nvCxnSpPr>
            <p:cNvPr id="14" name="Curved Connector 26">
              <a:extLst>
                <a:ext uri="{FF2B5EF4-FFF2-40B4-BE49-F238E27FC236}">
                  <a16:creationId xmlns:a16="http://schemas.microsoft.com/office/drawing/2014/main" id="{A92B1C14-0B8C-4C2E-B87F-1AB443277594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 rot="10800000" flipV="1">
              <a:off x="1887840" y="2983769"/>
              <a:ext cx="1126973" cy="576657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7F9186-472B-4BBA-8530-D3489ED4A9AD}"/>
                </a:ext>
              </a:extLst>
            </p:cNvPr>
            <p:cNvSpPr/>
            <p:nvPr/>
          </p:nvSpPr>
          <p:spPr>
            <a:xfrm>
              <a:off x="5014194" y="1977833"/>
              <a:ext cx="1283737" cy="975490"/>
            </a:xfrm>
            <a:prstGeom prst="ellipse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D5F6EF5-0692-426F-A828-4C2B6560979C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 flipH="1">
              <a:off x="5483050" y="2953322"/>
              <a:ext cx="173012" cy="4061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66B271-C16B-0363-64A0-582084CB4689}"/>
              </a:ext>
            </a:extLst>
          </p:cNvPr>
          <p:cNvGrpSpPr/>
          <p:nvPr/>
        </p:nvGrpSpPr>
        <p:grpSpPr>
          <a:xfrm>
            <a:off x="1052123" y="3642836"/>
            <a:ext cx="1703159" cy="1428580"/>
            <a:chOff x="1346072" y="3440941"/>
            <a:chExt cx="1703159" cy="142858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DA5727-55CC-4120-B7C9-37D78C92558C}"/>
                </a:ext>
              </a:extLst>
            </p:cNvPr>
            <p:cNvSpPr txBox="1"/>
            <p:nvPr/>
          </p:nvSpPr>
          <p:spPr>
            <a:xfrm>
              <a:off x="1346072" y="3440941"/>
              <a:ext cx="17031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POINT ESTIMATES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A4B427A-BE67-4D13-AC8E-6AA52CB45DB9}"/>
                    </a:ext>
                  </a:extLst>
                </p:cNvPr>
                <p:cNvSpPr txBox="1"/>
                <p:nvPr/>
              </p:nvSpPr>
              <p:spPr>
                <a:xfrm>
                  <a:off x="1400026" y="3779030"/>
                  <a:ext cx="1577340" cy="10904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=14.36</m:t>
                        </m:r>
                      </m:oMath>
                    </m:oMathPara>
                  </a14:m>
                  <a:endParaRPr lang="en-US" sz="1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=446.85</m:t>
                        </m:r>
                      </m:oMath>
                    </m:oMathPara>
                  </a14:m>
                  <a:endParaRPr lang="en-US" sz="1600" dirty="0"/>
                </a:p>
                <a:p>
                  <a:endParaRPr lang="en-US" sz="1600" dirty="0"/>
                </a:p>
                <a:p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A4B427A-BE67-4D13-AC8E-6AA52CB45D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026" y="3779030"/>
                  <a:ext cx="1577340" cy="10904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V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BBC0FF-4611-5DA9-17AC-3EE15116E0B2}"/>
              </a:ext>
            </a:extLst>
          </p:cNvPr>
          <p:cNvGrpSpPr/>
          <p:nvPr/>
        </p:nvGrpSpPr>
        <p:grpSpPr>
          <a:xfrm>
            <a:off x="3663815" y="3498533"/>
            <a:ext cx="4572000" cy="1373284"/>
            <a:chOff x="3550272" y="3359467"/>
            <a:chExt cx="4572000" cy="137328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902B67-28EE-4BEC-ABE4-8F85E310AFAB}"/>
                </a:ext>
              </a:extLst>
            </p:cNvPr>
            <p:cNvSpPr txBox="1"/>
            <p:nvPr/>
          </p:nvSpPr>
          <p:spPr>
            <a:xfrm>
              <a:off x="4884450" y="3359467"/>
              <a:ext cx="19895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INTERVAL ESTIMATES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76A24D3-554B-4BC8-ABDD-E999FE5ADA7F}"/>
                    </a:ext>
                  </a:extLst>
                </p:cNvPr>
                <p:cNvSpPr txBox="1"/>
                <p:nvPr/>
              </p:nvSpPr>
              <p:spPr>
                <a:xfrm>
                  <a:off x="3550272" y="4209531"/>
                  <a:ext cx="4572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11.28&lt;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&lt;17.44</m:t>
                        </m:r>
                      </m:oMath>
                    </m:oMathPara>
                  </a14:m>
                  <a:endParaRPr lang="en-US" sz="1400" dirty="0"/>
                </a:p>
                <a:p>
                  <a:endParaRPr 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76A24D3-554B-4BC8-ABDD-E999FE5AD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272" y="4209531"/>
                  <a:ext cx="457200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V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9284319-318A-4AD3-B2CB-132D11107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5044" y="3698132"/>
              <a:ext cx="3538902" cy="394751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164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825" y="247363"/>
            <a:ext cx="7766050" cy="1306768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53975">
              <a:spcBef>
                <a:spcPts val="110"/>
              </a:spcBef>
            </a:pPr>
            <a:r>
              <a:rPr dirty="0"/>
              <a:t>Regression</a:t>
            </a:r>
            <a:r>
              <a:rPr spc="-30" dirty="0"/>
              <a:t> </a:t>
            </a:r>
            <a:r>
              <a:rPr dirty="0"/>
              <a:t>output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Stata</a:t>
            </a:r>
            <a:r>
              <a:rPr spc="-2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ANOVA</a:t>
            </a:r>
            <a:r>
              <a:rPr spc="-20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825" y="3966979"/>
            <a:ext cx="3826510" cy="90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55"/>
              </a:lnSpc>
              <a:spcBef>
                <a:spcPts val="95"/>
              </a:spcBef>
            </a:pP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We</a:t>
            </a:r>
            <a:r>
              <a:rPr sz="1500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can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spc="-10" dirty="0">
                <a:solidFill>
                  <a:srgbClr val="1A3561"/>
                </a:solidFill>
                <a:latin typeface="Open Sans"/>
                <a:cs typeface="Open Sans"/>
              </a:rPr>
              <a:t>partition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the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spc="-10" dirty="0">
                <a:solidFill>
                  <a:srgbClr val="1A3561"/>
                </a:solidFill>
                <a:latin typeface="Open Sans"/>
                <a:cs typeface="Open Sans"/>
              </a:rPr>
              <a:t>variation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in</a:t>
            </a:r>
            <a:r>
              <a:rPr sz="1500" spc="-1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b="1" dirty="0">
                <a:solidFill>
                  <a:srgbClr val="1A3561"/>
                </a:solidFill>
                <a:latin typeface="Open Sans"/>
                <a:cs typeface="Open Sans"/>
              </a:rPr>
              <a:t>y</a:t>
            </a:r>
            <a:r>
              <a:rPr sz="1500" b="1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into</a:t>
            </a:r>
            <a:r>
              <a:rPr sz="1500" spc="-1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b="1" spc="-25" dirty="0">
                <a:solidFill>
                  <a:srgbClr val="1A3561"/>
                </a:solidFill>
                <a:latin typeface="Open Sans"/>
                <a:cs typeface="Open Sans"/>
              </a:rPr>
              <a:t>two</a:t>
            </a:r>
            <a:endParaRPr sz="1500" dirty="0">
              <a:latin typeface="Open Sans"/>
              <a:cs typeface="Open Sans"/>
            </a:endParaRPr>
          </a:p>
          <a:p>
            <a:pPr marL="12700">
              <a:lnSpc>
                <a:spcPts val="1755"/>
              </a:lnSpc>
            </a:pPr>
            <a:r>
              <a:rPr sz="1500" spc="-10" dirty="0">
                <a:solidFill>
                  <a:srgbClr val="1A3561"/>
                </a:solidFill>
                <a:latin typeface="Open Sans"/>
                <a:cs typeface="Open Sans"/>
              </a:rPr>
              <a:t>parts:</a:t>
            </a:r>
            <a:endParaRPr sz="1500" dirty="0">
              <a:latin typeface="Open Sans"/>
              <a:cs typeface="Open Sans"/>
            </a:endParaRPr>
          </a:p>
          <a:p>
            <a:pPr marL="12700">
              <a:spcBef>
                <a:spcPts val="1610"/>
              </a:spcBef>
            </a:pPr>
            <a:r>
              <a:rPr sz="1500" spc="-10" dirty="0">
                <a:solidFill>
                  <a:srgbClr val="1A3561"/>
                </a:solidFill>
                <a:latin typeface="Open Sans"/>
                <a:cs typeface="Open Sans"/>
              </a:rPr>
              <a:t>Variation</a:t>
            </a:r>
            <a:r>
              <a:rPr sz="1500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in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y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=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SSE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+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spc="-25" dirty="0">
                <a:solidFill>
                  <a:srgbClr val="1A3561"/>
                </a:solidFill>
                <a:latin typeface="Open Sans"/>
                <a:cs typeface="Open Sans"/>
              </a:rPr>
              <a:t>MSS</a:t>
            </a:r>
            <a:endParaRPr sz="1500" dirty="0">
              <a:latin typeface="Open Sans"/>
              <a:cs typeface="Open Sans"/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3" cstate="print"/>
          <a:srcRect r="12738"/>
          <a:stretch/>
        </p:blipFill>
        <p:spPr>
          <a:xfrm>
            <a:off x="1619374" y="1469726"/>
            <a:ext cx="5153008" cy="23486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18976" y="2108619"/>
            <a:ext cx="102679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/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df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576" y="5068526"/>
            <a:ext cx="4095749" cy="457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30525" y="3963009"/>
            <a:ext cx="3573779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Sum</a:t>
            </a:r>
            <a:r>
              <a:rPr sz="1400" spc="-4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of</a:t>
            </a:r>
            <a:r>
              <a:rPr sz="1400" spc="-4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Squared</a:t>
            </a:r>
            <a:r>
              <a:rPr sz="1400" spc="-4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Errors</a:t>
            </a:r>
            <a:r>
              <a:rPr sz="1400" spc="-4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(</a:t>
            </a:r>
            <a:r>
              <a:rPr sz="1400" dirty="0">
                <a:solidFill>
                  <a:srgbClr val="FF0000"/>
                </a:solidFill>
                <a:latin typeface="Open Sans"/>
                <a:cs typeface="Open Sans"/>
              </a:rPr>
              <a:t>SSE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):</a:t>
            </a:r>
            <a:r>
              <a:rPr sz="1400" spc="-4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measures</a:t>
            </a:r>
            <a:r>
              <a:rPr sz="1400" spc="-4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25" dirty="0">
                <a:solidFill>
                  <a:srgbClr val="1A3561"/>
                </a:solidFill>
                <a:latin typeface="Open Sans"/>
                <a:cs typeface="Open Sans"/>
              </a:rPr>
              <a:t>the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amount</a:t>
            </a:r>
            <a:r>
              <a:rPr sz="1400" spc="-3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of</a:t>
            </a:r>
            <a:r>
              <a:rPr sz="1400" spc="-3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variation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in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b="1" dirty="0">
                <a:solidFill>
                  <a:srgbClr val="1A3561"/>
                </a:solidFill>
                <a:latin typeface="Open Sans"/>
                <a:cs typeface="Open Sans"/>
              </a:rPr>
              <a:t>y</a:t>
            </a:r>
            <a:r>
              <a:rPr sz="1400" b="1" spc="-3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that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remains </a:t>
            </a:r>
            <a:r>
              <a:rPr sz="1400" b="1" spc="-10" dirty="0">
                <a:solidFill>
                  <a:srgbClr val="1A3561"/>
                </a:solidFill>
                <a:latin typeface="Open Sans"/>
                <a:cs typeface="Open Sans"/>
              </a:rPr>
              <a:t>unexplained</a:t>
            </a:r>
            <a:r>
              <a:rPr sz="1400" b="1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(i.e.,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due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to</a:t>
            </a:r>
            <a:r>
              <a:rPr sz="1400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i="1" spc="-10" dirty="0">
                <a:solidFill>
                  <a:srgbClr val="1A3561"/>
                </a:solidFill>
                <a:latin typeface="Open Sans"/>
                <a:cs typeface="Open Sans"/>
              </a:rPr>
              <a:t>error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)</a:t>
            </a:r>
            <a:endParaRPr sz="1400" dirty="0">
              <a:latin typeface="Open Sans"/>
              <a:cs typeface="Ope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0525" y="4944465"/>
            <a:ext cx="366839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Model</a:t>
            </a:r>
            <a:r>
              <a:rPr sz="1400" spc="-4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Sum</a:t>
            </a:r>
            <a:r>
              <a:rPr sz="1400" spc="-4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of</a:t>
            </a:r>
            <a:r>
              <a:rPr sz="1400" spc="-4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Squares</a:t>
            </a:r>
            <a:r>
              <a:rPr sz="1400" spc="-4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(</a:t>
            </a:r>
            <a:r>
              <a:rPr sz="1400" dirty="0">
                <a:solidFill>
                  <a:srgbClr val="0000FF"/>
                </a:solidFill>
                <a:latin typeface="Open Sans"/>
                <a:cs typeface="Open Sans"/>
              </a:rPr>
              <a:t>MSS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):</a:t>
            </a:r>
            <a:r>
              <a:rPr sz="1400" spc="28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measures</a:t>
            </a:r>
            <a:r>
              <a:rPr sz="1400" spc="-4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25" dirty="0">
                <a:solidFill>
                  <a:srgbClr val="1A3561"/>
                </a:solidFill>
                <a:latin typeface="Open Sans"/>
                <a:cs typeface="Open Sans"/>
              </a:rPr>
              <a:t>the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amount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of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variation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in</a:t>
            </a:r>
            <a:r>
              <a:rPr sz="14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b="1" dirty="0">
                <a:solidFill>
                  <a:srgbClr val="1A3561"/>
                </a:solidFill>
                <a:latin typeface="Open Sans"/>
                <a:cs typeface="Open Sans"/>
              </a:rPr>
              <a:t>y</a:t>
            </a:r>
            <a:r>
              <a:rPr sz="1400" b="1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explained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spc="-25" dirty="0">
                <a:solidFill>
                  <a:srgbClr val="1A3561"/>
                </a:solidFill>
                <a:latin typeface="Open Sans"/>
                <a:cs typeface="Open Sans"/>
              </a:rPr>
              <a:t>by </a:t>
            </a:r>
            <a:r>
              <a:rPr sz="1400" spc="-10" dirty="0">
                <a:solidFill>
                  <a:srgbClr val="1A3561"/>
                </a:solidFill>
                <a:latin typeface="Open Sans"/>
                <a:cs typeface="Open Sans"/>
              </a:rPr>
              <a:t>variation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in</a:t>
            </a:r>
            <a:r>
              <a:rPr sz="14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dirty="0">
                <a:solidFill>
                  <a:srgbClr val="1A3561"/>
                </a:solidFill>
                <a:latin typeface="Open Sans"/>
                <a:cs typeface="Open Sans"/>
              </a:rPr>
              <a:t>the</a:t>
            </a:r>
            <a:r>
              <a:rPr sz="1400" spc="-2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b="1" i="1" spc="-10" dirty="0">
                <a:solidFill>
                  <a:srgbClr val="1A3561"/>
                </a:solidFill>
                <a:latin typeface="Open Sans"/>
                <a:cs typeface="Open Sans"/>
              </a:rPr>
              <a:t>independent</a:t>
            </a:r>
            <a:r>
              <a:rPr sz="1400" b="1" i="1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b="1" i="1" dirty="0">
                <a:solidFill>
                  <a:srgbClr val="1A3561"/>
                </a:solidFill>
                <a:latin typeface="Open Sans"/>
                <a:cs typeface="Open Sans"/>
              </a:rPr>
              <a:t>variable</a:t>
            </a:r>
            <a:r>
              <a:rPr sz="1400" b="1" i="1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400" b="1" spc="-35" dirty="0">
                <a:solidFill>
                  <a:srgbClr val="1A3561"/>
                </a:solidFill>
                <a:latin typeface="Open Sans"/>
                <a:cs typeface="Open Sans"/>
              </a:rPr>
              <a:t>x</a:t>
            </a:r>
            <a:r>
              <a:rPr sz="1400" spc="-35" dirty="0">
                <a:solidFill>
                  <a:srgbClr val="1A3561"/>
                </a:solidFill>
                <a:latin typeface="Open Sans"/>
                <a:cs typeface="Open Sans"/>
              </a:rPr>
              <a:t>.</a:t>
            </a:r>
            <a:endParaRPr sz="1400" dirty="0">
              <a:latin typeface="Open Sans"/>
              <a:cs typeface="Open San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1507204-C2BD-D354-85BF-A4E867024804}"/>
              </a:ext>
            </a:extLst>
          </p:cNvPr>
          <p:cNvSpPr txBox="1"/>
          <p:nvPr/>
        </p:nvSpPr>
        <p:spPr>
          <a:xfrm>
            <a:off x="6718976" y="2553277"/>
            <a:ext cx="665672" cy="591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100"/>
              </a:spcBef>
            </a:pPr>
            <a:r>
              <a:rPr b="1" spc="-25" dirty="0">
                <a:solidFill>
                  <a:srgbClr val="D1533C"/>
                </a:solidFill>
                <a:latin typeface="Open Sans"/>
                <a:cs typeface="Open Sans"/>
              </a:rPr>
              <a:t>MMS MSE</a:t>
            </a:r>
            <a:endParaRPr dirty="0">
              <a:latin typeface="Open Sans"/>
              <a:cs typeface="Open San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6585"/>
            <a:ext cx="7766050" cy="1306768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53975">
              <a:spcBef>
                <a:spcPts val="110"/>
              </a:spcBef>
            </a:pPr>
            <a:r>
              <a:rPr dirty="0"/>
              <a:t>Regression</a:t>
            </a:r>
            <a:r>
              <a:rPr spc="-30" dirty="0"/>
              <a:t> </a:t>
            </a:r>
            <a:r>
              <a:rPr dirty="0"/>
              <a:t>output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Stata</a:t>
            </a:r>
            <a:r>
              <a:rPr spc="-2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ANOVA</a:t>
            </a:r>
            <a:r>
              <a:rPr spc="-20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826" y="3547229"/>
            <a:ext cx="31464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u="heavy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F</a:t>
            </a:r>
            <a:r>
              <a:rPr sz="1500" u="heavy" spc="-30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 </a:t>
            </a:r>
            <a:r>
              <a:rPr sz="1500" u="heavy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test</a:t>
            </a:r>
            <a:r>
              <a:rPr sz="1500" u="heavy" spc="-30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 </a:t>
            </a:r>
            <a:r>
              <a:rPr sz="1500" u="heavy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statistics</a:t>
            </a:r>
            <a:r>
              <a:rPr sz="1500" u="heavy" spc="-30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 </a:t>
            </a:r>
            <a:r>
              <a:rPr sz="1500" u="heavy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for</a:t>
            </a:r>
            <a:r>
              <a:rPr sz="1500" u="heavy" spc="-30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 </a:t>
            </a:r>
            <a:r>
              <a:rPr sz="1500" u="heavy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testing</a:t>
            </a:r>
            <a:r>
              <a:rPr sz="1500" u="heavy" spc="-25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 </a:t>
            </a:r>
            <a:r>
              <a:rPr sz="1500" u="heavy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the</a:t>
            </a:r>
            <a:r>
              <a:rPr sz="1500" u="heavy" spc="-30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 </a:t>
            </a:r>
            <a:r>
              <a:rPr sz="1500" u="heavy" spc="-10" dirty="0">
                <a:solidFill>
                  <a:srgbClr val="1A3561"/>
                </a:solidFill>
                <a:uFill>
                  <a:solidFill>
                    <a:srgbClr val="1A3561"/>
                  </a:solidFill>
                </a:uFill>
                <a:latin typeface="Open Sans"/>
                <a:cs typeface="Open Sans"/>
              </a:rPr>
              <a:t>slope</a:t>
            </a:r>
            <a:endParaRPr sz="1500" dirty="0">
              <a:latin typeface="Open Sans"/>
              <a:cs typeface="Open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826" y="5090279"/>
            <a:ext cx="2952115" cy="5511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spcBef>
                <a:spcPts val="370"/>
              </a:spcBef>
            </a:pP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Same</a:t>
            </a:r>
            <a:r>
              <a:rPr sz="1500" spc="-4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results</a:t>
            </a:r>
            <a:r>
              <a:rPr sz="1500" spc="-3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as</a:t>
            </a:r>
            <a:r>
              <a:rPr sz="1500" spc="-3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spc="-10" dirty="0">
                <a:solidFill>
                  <a:srgbClr val="1A3561"/>
                </a:solidFill>
                <a:latin typeface="Open Sans"/>
                <a:cs typeface="Open Sans"/>
              </a:rPr>
              <a:t>t-</a:t>
            </a:r>
            <a:r>
              <a:rPr sz="1500" spc="-20" dirty="0">
                <a:solidFill>
                  <a:srgbClr val="1A3561"/>
                </a:solidFill>
                <a:latin typeface="Open Sans"/>
                <a:cs typeface="Open Sans"/>
              </a:rPr>
              <a:t>test</a:t>
            </a:r>
            <a:r>
              <a:rPr lang="en-US" sz="1500" spc="-20" dirty="0">
                <a:solidFill>
                  <a:srgbClr val="1A3561"/>
                </a:solidFill>
                <a:latin typeface="Open Sans"/>
                <a:cs typeface="Open Sans"/>
              </a:rPr>
              <a:t>:</a:t>
            </a:r>
            <a:endParaRPr sz="1500" dirty="0">
              <a:latin typeface="Open Sans"/>
              <a:cs typeface="Open Sans"/>
            </a:endParaRPr>
          </a:p>
          <a:p>
            <a:pPr marL="12700">
              <a:spcBef>
                <a:spcPts val="270"/>
              </a:spcBef>
            </a:pP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We</a:t>
            </a:r>
            <a:r>
              <a:rPr sz="15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can</a:t>
            </a:r>
            <a:r>
              <a:rPr sz="15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reject</a:t>
            </a:r>
            <a:r>
              <a:rPr sz="1500" spc="-25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the</a:t>
            </a:r>
            <a:r>
              <a:rPr sz="15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dirty="0">
                <a:solidFill>
                  <a:srgbClr val="1A3561"/>
                </a:solidFill>
                <a:latin typeface="Open Sans"/>
                <a:cs typeface="Open Sans"/>
              </a:rPr>
              <a:t>null</a:t>
            </a:r>
            <a:r>
              <a:rPr sz="1500" spc="-30" dirty="0">
                <a:solidFill>
                  <a:srgbClr val="1A3561"/>
                </a:solidFill>
                <a:latin typeface="Open Sans"/>
                <a:cs typeface="Open Sans"/>
              </a:rPr>
              <a:t> </a:t>
            </a:r>
            <a:r>
              <a:rPr sz="1500" spc="-10" dirty="0">
                <a:solidFill>
                  <a:srgbClr val="1A3561"/>
                </a:solidFill>
                <a:latin typeface="Open Sans"/>
                <a:cs typeface="Open Sans"/>
              </a:rPr>
              <a:t>hypothesis</a:t>
            </a:r>
            <a:endParaRPr sz="1500" dirty="0">
              <a:latin typeface="Open Sans"/>
              <a:cs typeface="Ope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0524" y="3805022"/>
            <a:ext cx="361696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b="1" dirty="0">
                <a:solidFill>
                  <a:srgbClr val="1A3561"/>
                </a:solidFill>
                <a:latin typeface="Arial"/>
                <a:cs typeface="Arial"/>
              </a:rPr>
              <a:t>50.71%</a:t>
            </a:r>
            <a:r>
              <a:rPr sz="1600" b="1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variation</a:t>
            </a:r>
            <a:r>
              <a:rPr sz="1600" spc="-2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3561"/>
                </a:solidFill>
                <a:latin typeface="Arial"/>
                <a:cs typeface="Arial"/>
              </a:rPr>
              <a:t>y</a:t>
            </a:r>
            <a:r>
              <a:rPr sz="1600" b="1" spc="-2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is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A3561"/>
                </a:solidFill>
                <a:latin typeface="Arial"/>
                <a:cs typeface="Arial"/>
              </a:rPr>
              <a:t>explained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by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variation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3561"/>
                </a:solidFill>
                <a:latin typeface="Arial"/>
                <a:cs typeface="Arial"/>
              </a:rPr>
              <a:t>x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.</a:t>
            </a:r>
            <a:r>
              <a:rPr sz="1600" spc="-5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A3561"/>
                </a:solidFill>
                <a:latin typeface="Arial"/>
                <a:cs typeface="Arial"/>
              </a:rPr>
              <a:t>remaining </a:t>
            </a:r>
            <a:r>
              <a:rPr sz="1600" b="1" dirty="0">
                <a:solidFill>
                  <a:srgbClr val="1A3561"/>
                </a:solidFill>
                <a:latin typeface="Arial"/>
                <a:cs typeface="Arial"/>
              </a:rPr>
              <a:t>49.29%</a:t>
            </a:r>
            <a:r>
              <a:rPr sz="1600" b="1" spc="-3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is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unexplained,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due</a:t>
            </a:r>
            <a:r>
              <a:rPr sz="1600" spc="-30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A3561"/>
                </a:solidFill>
                <a:latin typeface="Arial"/>
                <a:cs typeface="Arial"/>
              </a:rPr>
              <a:t>to</a:t>
            </a:r>
            <a:r>
              <a:rPr sz="1600" spc="-25" dirty="0">
                <a:solidFill>
                  <a:srgbClr val="1A3561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A3561"/>
                </a:solidFill>
                <a:latin typeface="Arial"/>
                <a:cs typeface="Arial"/>
              </a:rPr>
              <a:t>error.</a:t>
            </a:r>
            <a:endParaRPr sz="1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130524" y="5312257"/>
                <a:ext cx="3534410" cy="55502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14999"/>
                  </a:lnSpc>
                  <a:spcBef>
                    <a:spcPts val="100"/>
                  </a:spcBef>
                </a:pPr>
                <a:r>
                  <a:rPr lang="en-US" sz="1600" dirty="0">
                    <a:solidFill>
                      <a:srgbClr val="2D637F"/>
                    </a:solidFill>
                    <a:latin typeface="Arial"/>
                    <a:cs typeface="Arial"/>
                  </a:rPr>
                  <a:t>Root</a:t>
                </a:r>
                <a:r>
                  <a:rPr lang="en-US" sz="1600" spc="-30" dirty="0">
                    <a:solidFill>
                      <a:srgbClr val="2D637F"/>
                    </a:solidFill>
                    <a:latin typeface="Arial"/>
                    <a:cs typeface="Arial"/>
                  </a:rPr>
                  <a:t> </a:t>
                </a:r>
                <a:r>
                  <a:rPr lang="en-US" sz="1600" dirty="0">
                    <a:solidFill>
                      <a:srgbClr val="2D637F"/>
                    </a:solidFill>
                    <a:latin typeface="Arial"/>
                    <a:cs typeface="Arial"/>
                  </a:rPr>
                  <a:t>MSE is an estimator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600" i="1" dirty="0" smtClean="0">
                            <a:solidFill>
                              <a:srgbClr val="2D637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ar-AE" sz="1600" i="1" dirty="0">
                            <a:solidFill>
                              <a:srgbClr val="2D637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𝜎</m:t>
                        </m:r>
                      </m:e>
                    </m:acc>
                  </m:oMath>
                </a14:m>
                <a:r>
                  <a:rPr lang="ar-AE" sz="1600" dirty="0">
                    <a:solidFill>
                      <a:srgbClr val="2D637F"/>
                    </a:solidFill>
                    <a:latin typeface="Arial"/>
                    <a:cs typeface="Arial"/>
                  </a:rPr>
                  <a:t>, </a:t>
                </a:r>
                <a:r>
                  <a:rPr lang="en-US" sz="1600" dirty="0">
                    <a:solidFill>
                      <a:srgbClr val="2D637F"/>
                    </a:solidFill>
                    <a:latin typeface="Arial"/>
                    <a:cs typeface="Arial"/>
                  </a:rPr>
                  <a:t>which is the (residual) standard deviation.</a:t>
                </a: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524" y="5312257"/>
                <a:ext cx="3534410" cy="555024"/>
              </a:xfrm>
              <a:prstGeom prst="rect">
                <a:avLst/>
              </a:prstGeom>
              <a:blipFill>
                <a:blip r:embed="rId3"/>
                <a:stretch>
                  <a:fillRect l="-3282" t="-5495" b="-23077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3840" y="1500450"/>
            <a:ext cx="5856318" cy="18006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145" y="3814325"/>
            <a:ext cx="3773800" cy="11735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68826" y="2171479"/>
            <a:ext cx="396875" cy="3984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D1533C"/>
                </a:solidFill>
                <a:latin typeface="Open Sans"/>
                <a:cs typeface="Open Sans"/>
              </a:rPr>
              <a:t>MMS MSE</a:t>
            </a:r>
            <a:endParaRPr sz="1200" dirty="0">
              <a:latin typeface="Open Sans"/>
              <a:cs typeface="Open San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0460" y="3224875"/>
            <a:ext cx="933449" cy="5429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92849" y="4701926"/>
            <a:ext cx="1980615" cy="5669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653206" cy="749054"/>
          </a:xfrm>
        </p:spPr>
        <p:txBody>
          <a:bodyPr/>
          <a:lstStyle/>
          <a:p>
            <a:r>
              <a:rPr lang="en-US" dirty="0"/>
              <a:t>Practicing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4628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1887" y="140167"/>
                <a:ext cx="8332828" cy="5485129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What is the mean of SD of </a:t>
                </a:r>
                <a:r>
                  <a:rPr lang="en-US" sz="2000" dirty="0" err="1"/>
                  <a:t>mathgain</a:t>
                </a:r>
                <a:r>
                  <a:rPr lang="en-US" sz="2000" dirty="0"/>
                  <a:t> among boys? 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How many girls are in School 1? 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Can </a:t>
                </a:r>
                <a:r>
                  <a:rPr lang="en-US" sz="2000" dirty="0" err="1"/>
                  <a:t>ses</a:t>
                </a:r>
                <a:r>
                  <a:rPr lang="en-US" sz="2000" dirty="0"/>
                  <a:t> signiﬁcantly predict </a:t>
                </a:r>
                <a:r>
                  <a:rPr lang="en-US" sz="2000" dirty="0" err="1"/>
                  <a:t>mathgain</a:t>
                </a:r>
                <a:r>
                  <a:rPr lang="en-US" sz="2000" dirty="0"/>
                  <a:t>? 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one boxplot that compares the </a:t>
                </a:r>
                <a:r>
                  <a:rPr lang="en-US" sz="2000" dirty="0" err="1"/>
                  <a:t>mathgain</a:t>
                </a:r>
                <a:r>
                  <a:rPr lang="en-US" sz="2000" dirty="0"/>
                  <a:t> and </a:t>
                </a:r>
                <a:r>
                  <a:rPr lang="en-US" sz="2000" dirty="0" err="1"/>
                  <a:t>ses</a:t>
                </a:r>
                <a:r>
                  <a:rPr lang="en-US" sz="2000" dirty="0"/>
                  <a:t> between girls and boys.</a:t>
                </a:r>
                <a:br>
                  <a:rPr lang="en-US" sz="2000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Suppose that the following equation describes the relationship between hours of sleep (response variable) and units of happiness (explanatory variable):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= 10 + 1.5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2000" dirty="0"/>
                </a:br>
                <a:endParaRPr lang="en-US" sz="2000" dirty="0"/>
              </a:p>
              <a:p>
                <a:pPr marL="857250" lvl="1" indent="-457200">
                  <a:buFont typeface="+mj-lt"/>
                  <a:buAutoNum type="alphaLcParenR"/>
                </a:pPr>
                <a:r>
                  <a:rPr lang="en-US" dirty="0"/>
                  <a:t>Interpret the slope.</a:t>
                </a:r>
              </a:p>
              <a:p>
                <a:pPr marL="857250" lvl="1" indent="-457200">
                  <a:buFont typeface="+mj-lt"/>
                  <a:buAutoNum type="alphaLcParenR"/>
                </a:pPr>
                <a:r>
                  <a:rPr lang="en-US" dirty="0"/>
                  <a:t>How many hours of sleep would a person who is “5 units of happy” be predicted to get?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887" y="140167"/>
                <a:ext cx="8332828" cy="5485129"/>
              </a:xfrm>
              <a:blipFill>
                <a:blip r:embed="rId3"/>
                <a:stretch>
                  <a:fillRect l="-1025" t="-1222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17062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A76A-0ABB-3BEF-FC04-CD206B53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Assignments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4DF64D-A5B8-990A-3237-A950E2EA2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71989"/>
            <a:ext cx="3047678" cy="2137967"/>
          </a:xfrm>
        </p:spPr>
        <p:txBody>
          <a:bodyPr>
            <a:noAutofit/>
          </a:bodyPr>
          <a:lstStyle/>
          <a:p>
            <a:r>
              <a:rPr lang="en-US" dirty="0"/>
              <a:t>Quiz 0:</a:t>
            </a:r>
          </a:p>
          <a:p>
            <a:pPr lvl="1"/>
            <a:r>
              <a:rPr lang="en-US" dirty="0"/>
              <a:t>01/26/2024</a:t>
            </a:r>
          </a:p>
          <a:p>
            <a:endParaRPr lang="en-US" dirty="0"/>
          </a:p>
          <a:p>
            <a:r>
              <a:rPr lang="en-US" dirty="0"/>
              <a:t>Homework 1 &amp; 2:</a:t>
            </a:r>
          </a:p>
          <a:p>
            <a:pPr lvl="1"/>
            <a:r>
              <a:rPr lang="en-US" dirty="0"/>
              <a:t>02/4/2024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41DF2-C242-DE1C-E566-6C23E85D7247}"/>
              </a:ext>
            </a:extLst>
          </p:cNvPr>
          <p:cNvSpPr txBox="1">
            <a:spLocks/>
          </p:cNvSpPr>
          <p:nvPr/>
        </p:nvSpPr>
        <p:spPr>
          <a:xfrm>
            <a:off x="4572000" y="2271988"/>
            <a:ext cx="3047678" cy="2137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1:</a:t>
            </a:r>
          </a:p>
          <a:p>
            <a:pPr lvl="1"/>
            <a:r>
              <a:rPr lang="en-US" dirty="0"/>
              <a:t>03/22/2024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63406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35"/>
  <p:tag name="PRESGUID" val="cf23794e-c81a-4bd0-af7c-a0a03b4fd95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</TotalTime>
  <Words>1295</Words>
  <Application>Microsoft Office PowerPoint</Application>
  <PresentationFormat>On-screen Show (4:3)</PresentationFormat>
  <Paragraphs>198</Paragraphs>
  <Slides>35</Slides>
  <Notes>13</Notes>
  <HiddenSlides>15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Arial</vt:lpstr>
      <vt:lpstr>Calibri</vt:lpstr>
      <vt:lpstr>Cambria Math</vt:lpstr>
      <vt:lpstr>Georgia</vt:lpstr>
      <vt:lpstr>Lucida Grande</vt:lpstr>
      <vt:lpstr>Open Sans</vt:lpstr>
      <vt:lpstr>Open Sans ExtraBold</vt:lpstr>
      <vt:lpstr>Symbol</vt:lpstr>
      <vt:lpstr>Tahoma</vt:lpstr>
      <vt:lpstr>Wingdings</vt:lpstr>
      <vt:lpstr>Custom Design</vt:lpstr>
      <vt:lpstr>수식</vt:lpstr>
      <vt:lpstr>Equation</vt:lpstr>
      <vt:lpstr>Welcome to Himilcon’s lab for EDUC 275B (Data II)!</vt:lpstr>
      <vt:lpstr>Objectives</vt:lpstr>
      <vt:lpstr>Introductions</vt:lpstr>
      <vt:lpstr>Introductions</vt:lpstr>
      <vt:lpstr>About labs</vt:lpstr>
      <vt:lpstr>Today’s review</vt:lpstr>
      <vt:lpstr>Statistics</vt:lpstr>
      <vt:lpstr>PowerPoint Presentation</vt:lpstr>
      <vt:lpstr>PowerPoint Presentation</vt:lpstr>
      <vt:lpstr>PowerPoint Presentation</vt:lpstr>
      <vt:lpstr>PowerPoint Presentation</vt:lpstr>
      <vt:lpstr>Hypothesis Testing</vt:lpstr>
      <vt:lpstr>Hypothesis Testing</vt:lpstr>
      <vt:lpstr>What is P-value</vt:lpstr>
      <vt:lpstr>Regression analysis </vt:lpstr>
      <vt:lpstr>Simple linear regression model</vt:lpstr>
      <vt:lpstr>Simple linear regression</vt:lpstr>
      <vt:lpstr>Estimating the coefficients</vt:lpstr>
      <vt:lpstr>Least squares line</vt:lpstr>
      <vt:lpstr>Model assumptions</vt:lpstr>
      <vt:lpstr>Using Stata</vt:lpstr>
      <vt:lpstr>eLumin Virtual Machine </vt:lpstr>
      <vt:lpstr>Setup</vt:lpstr>
      <vt:lpstr>Interpreting Stata Output</vt:lpstr>
      <vt:lpstr>t-test</vt:lpstr>
      <vt:lpstr>t-test</vt:lpstr>
      <vt:lpstr>Simple linear regression model</vt:lpstr>
      <vt:lpstr>Regression output in Stata</vt:lpstr>
      <vt:lpstr>Regression output in Stata</vt:lpstr>
      <vt:lpstr>Regression output in Stata</vt:lpstr>
      <vt:lpstr>Regression output in Stata - ANOVA Table</vt:lpstr>
      <vt:lpstr>Regression output in Stata - ANOVA Table</vt:lpstr>
      <vt:lpstr>Practicing</vt:lpstr>
      <vt:lpstr>PowerPoint Presentation</vt:lpstr>
      <vt:lpstr>Upcoming Assignments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Laurie Frasier</dc:creator>
  <cp:lastModifiedBy>Himilcon Inciarte</cp:lastModifiedBy>
  <cp:revision>90</cp:revision>
  <dcterms:created xsi:type="dcterms:W3CDTF">2013-01-15T19:08:57Z</dcterms:created>
  <dcterms:modified xsi:type="dcterms:W3CDTF">2024-01-25T13:02:56Z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6617E751-DBAE-4F4B-AC95-E29DA81D7101</vt:lpwstr>
  </property>
  <property fmtid="{D5CDD505-2E9C-101B-9397-08002B2CF9AE}" pid="3" name="ArticulatePath">
    <vt:lpwstr>Inciarte_Lab01</vt:lpwstr>
  </property>
</Properties>
</file>