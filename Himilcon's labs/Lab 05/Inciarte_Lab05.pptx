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2" r:id="rId1"/>
  </p:sldMasterIdLst>
  <p:notesMasterIdLst>
    <p:notesMasterId r:id="rId12"/>
  </p:notesMasterIdLst>
  <p:handoutMasterIdLst>
    <p:handoutMasterId r:id="rId13"/>
  </p:handoutMasterIdLst>
  <p:sldIdLst>
    <p:sldId id="256" r:id="rId2"/>
    <p:sldId id="271" r:id="rId3"/>
    <p:sldId id="303" r:id="rId4"/>
    <p:sldId id="338" r:id="rId5"/>
    <p:sldId id="337" r:id="rId6"/>
    <p:sldId id="335" r:id="rId7"/>
    <p:sldId id="301" r:id="rId8"/>
    <p:sldId id="302" r:id="rId9"/>
    <p:sldId id="334" r:id="rId10"/>
    <p:sldId id="333" r:id="rId11"/>
  </p:sldIdLst>
  <p:sldSz cx="9144000" cy="6858000" type="screen4x3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0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637F"/>
    <a:srgbClr val="C28220"/>
    <a:srgbClr val="E09E19"/>
    <a:srgbClr val="9DAD33"/>
    <a:srgbClr val="6C3302"/>
    <a:srgbClr val="584F29"/>
    <a:srgbClr val="ED4E33"/>
    <a:srgbClr val="003262"/>
    <a:srgbClr val="53626F"/>
    <a:srgbClr val="00B2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55" autoAdjust="0"/>
    <p:restoredTop sz="83791" autoAdjust="0"/>
  </p:normalViewPr>
  <p:slideViewPr>
    <p:cSldViewPr snapToGrid="0" snapToObjects="1">
      <p:cViewPr varScale="1">
        <p:scale>
          <a:sx n="66" d="100"/>
          <a:sy n="66" d="100"/>
        </p:scale>
        <p:origin x="2035" y="38"/>
      </p:cViewPr>
      <p:guideLst>
        <p:guide orient="horz" pos="360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CB1905-1EEB-6545-B5E2-B70E8868255E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61A396-5F67-764F-9A9A-305152EBE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9858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53F6BF-7462-9046-A2B6-90C29244BD27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7DBC5-2A13-CA47-B9EE-6017A92B6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3686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24333"/>
            <a:ext cx="6813884" cy="163946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5000">
                <a:solidFill>
                  <a:srgbClr val="C2822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575258"/>
            <a:ext cx="6400800" cy="111359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rgbClr val="2D637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90539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50032"/>
            <a:ext cx="7766050" cy="115035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" y="2518947"/>
            <a:ext cx="7740650" cy="206466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1303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68325" y="2017295"/>
            <a:ext cx="7772400" cy="1996573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4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8325" y="1019341"/>
            <a:ext cx="7772400" cy="89568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200">
                <a:solidFill>
                  <a:srgbClr val="2D637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7536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72051"/>
            <a:ext cx="7464425" cy="1143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200"/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097755"/>
            <a:ext cx="3717925" cy="2823496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0"/>
          </p:nvPr>
        </p:nvSpPr>
        <p:spPr>
          <a:xfrm>
            <a:off x="4175125" y="2097754"/>
            <a:ext cx="3746500" cy="2823497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rgbClr val="2D637F"/>
                </a:solidFill>
              </a:defRPr>
            </a:lvl1pPr>
            <a:lvl2pPr>
              <a:defRPr sz="2000">
                <a:solidFill>
                  <a:srgbClr val="2D637F"/>
                </a:solidFill>
              </a:defRPr>
            </a:lvl2pPr>
            <a:lvl3pPr>
              <a:defRPr sz="1800">
                <a:solidFill>
                  <a:srgbClr val="2D637F"/>
                </a:solidFill>
              </a:defRPr>
            </a:lvl3pPr>
            <a:lvl4pPr>
              <a:defRPr sz="1600">
                <a:solidFill>
                  <a:srgbClr val="2D637F"/>
                </a:solidFill>
              </a:defRPr>
            </a:lvl4pPr>
            <a:lvl5pPr>
              <a:defRPr sz="1400">
                <a:solidFill>
                  <a:srgbClr val="2D637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3138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729789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1000" y="358775"/>
            <a:ext cx="5486400" cy="33710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4296527"/>
            <a:ext cx="5486400" cy="4772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26450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041995"/>
            <a:ext cx="3008313" cy="40498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575050" y="1041995"/>
            <a:ext cx="4537075" cy="365700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531651"/>
            <a:ext cx="3008313" cy="31673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699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1" y="1"/>
            <a:ext cx="4571999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1" i="0">
                <a:solidFill>
                  <a:srgbClr val="1A3561"/>
                </a:solidFill>
                <a:latin typeface="Open Sans ExtraBold"/>
                <a:cs typeface="Open Sans Extra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69825" y="1504496"/>
            <a:ext cx="3851910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rgbClr val="1A3561"/>
                </a:solidFill>
                <a:latin typeface="Open Sans"/>
                <a:cs typeface="Open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1659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emf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emf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267368" y="530726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457200" y="52595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Project Title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08079"/>
            <a:ext cx="8229600" cy="2526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6274508" y="0"/>
            <a:ext cx="2869492" cy="237957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5598553"/>
            <a:ext cx="9170736" cy="133007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369048" y="6019295"/>
            <a:ext cx="1745673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568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81" r:id="rId5"/>
    <p:sldLayoutId id="2147483649" r:id="rId6"/>
    <p:sldLayoutId id="2147483682" r:id="rId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5000" kern="1200">
          <a:solidFill>
            <a:srgbClr val="C28220"/>
          </a:solidFill>
          <a:latin typeface="Georgia"/>
          <a:ea typeface="+mj-ea"/>
          <a:cs typeface="Georgia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rgbClr val="2D637F"/>
          </a:solidFill>
          <a:latin typeface="Lucida Grande"/>
          <a:ea typeface="+mn-ea"/>
          <a:cs typeface="Lucida Grande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2D637F"/>
          </a:solidFill>
          <a:latin typeface="Lucida Grande"/>
          <a:ea typeface="+mn-ea"/>
          <a:cs typeface="Lucida Grande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rgbClr val="2D637F"/>
          </a:solidFill>
          <a:latin typeface="Lucida Grande"/>
          <a:ea typeface="+mn-ea"/>
          <a:cs typeface="Lucida Grande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rgbClr val="2D637F"/>
          </a:solidFill>
          <a:latin typeface="Lucida Grande"/>
          <a:ea typeface="+mn-ea"/>
          <a:cs typeface="Lucida Grande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rgbClr val="2D637F"/>
          </a:solidFill>
          <a:latin typeface="Lucida Grande"/>
          <a:ea typeface="+mn-ea"/>
          <a:cs typeface="Lucida Grand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799" y="819319"/>
            <a:ext cx="7833167" cy="1448130"/>
          </a:xfrm>
        </p:spPr>
        <p:txBody>
          <a:bodyPr/>
          <a:lstStyle/>
          <a:p>
            <a:r>
              <a:rPr lang="en-US" dirty="0">
                <a:solidFill>
                  <a:srgbClr val="C28220"/>
                </a:solidFill>
              </a:rPr>
              <a:t>Welcome to </a:t>
            </a:r>
            <a:r>
              <a:rPr lang="en-US" dirty="0" err="1">
                <a:solidFill>
                  <a:srgbClr val="C28220"/>
                </a:solidFill>
              </a:rPr>
              <a:t>Himilcon’s</a:t>
            </a:r>
            <a:r>
              <a:rPr lang="en-US" dirty="0">
                <a:solidFill>
                  <a:srgbClr val="C28220"/>
                </a:solidFill>
              </a:rPr>
              <a:t> lab for EDUC 275B (Data II)!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953943"/>
            <a:ext cx="6400800" cy="830009"/>
          </a:xfrm>
        </p:spPr>
        <p:txBody>
          <a:bodyPr/>
          <a:lstStyle/>
          <a:p>
            <a:r>
              <a:rPr lang="en-US" dirty="0"/>
              <a:t>Himilcon Inciarte</a:t>
            </a:r>
          </a:p>
          <a:p>
            <a:r>
              <a:rPr lang="en-US" dirty="0"/>
              <a:t>himilcon_Inciarte@berkeley.edu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0CBDC53-92E8-6E18-71D5-AC98905433D0}"/>
              </a:ext>
            </a:extLst>
          </p:cNvPr>
          <p:cNvSpPr txBox="1">
            <a:spLocks/>
          </p:cNvSpPr>
          <p:nvPr/>
        </p:nvSpPr>
        <p:spPr>
          <a:xfrm>
            <a:off x="685800" y="2912962"/>
            <a:ext cx="6400800" cy="8300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rgbClr val="2D637F"/>
                </a:solidFill>
                <a:latin typeface="Lucida Grande"/>
                <a:ea typeface="+mn-ea"/>
                <a:cs typeface="Lucida Grande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Lucida Grande"/>
                <a:ea typeface="+mn-ea"/>
                <a:cs typeface="Lucida Grande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Lucida Grande"/>
                <a:ea typeface="+mn-ea"/>
                <a:cs typeface="Lucida Grande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Lucida Grande"/>
                <a:ea typeface="+mn-ea"/>
                <a:cs typeface="Lucida Grande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Lucida Grande"/>
                <a:ea typeface="+mn-ea"/>
                <a:cs typeface="Lucida Grande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Lab 5</a:t>
            </a:r>
          </a:p>
          <a:p>
            <a:r>
              <a:rPr lang="en-US" dirty="0"/>
              <a:t>Wednesday, February 21, 2024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6399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BA76A-0ABB-3BEF-FC04-CD206B538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Upcoming Assignments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4DF64D-A5B8-990A-3237-A950E2EA2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2271989"/>
            <a:ext cx="3047678" cy="2137967"/>
          </a:xfrm>
        </p:spPr>
        <p:txBody>
          <a:bodyPr>
            <a:noAutofit/>
          </a:bodyPr>
          <a:lstStyle/>
          <a:p>
            <a:r>
              <a:rPr lang="en-US" dirty="0"/>
              <a:t>Quiz 2:</a:t>
            </a:r>
          </a:p>
          <a:p>
            <a:pPr lvl="1"/>
            <a:r>
              <a:rPr lang="en-US" dirty="0"/>
              <a:t>02/25/2024</a:t>
            </a:r>
          </a:p>
          <a:p>
            <a:endParaRPr lang="en-US" dirty="0"/>
          </a:p>
          <a:p>
            <a:r>
              <a:rPr lang="en-US" dirty="0"/>
              <a:t>Homework 3 &amp; 4:</a:t>
            </a:r>
          </a:p>
          <a:p>
            <a:pPr lvl="1"/>
            <a:r>
              <a:rPr lang="en-US" dirty="0"/>
              <a:t>02/26/2024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E41DF2-C242-DE1C-E566-6C23E85D7247}"/>
              </a:ext>
            </a:extLst>
          </p:cNvPr>
          <p:cNvSpPr txBox="1">
            <a:spLocks/>
          </p:cNvSpPr>
          <p:nvPr/>
        </p:nvSpPr>
        <p:spPr>
          <a:xfrm>
            <a:off x="4572000" y="2271988"/>
            <a:ext cx="3047678" cy="21379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rgbClr val="2D637F"/>
                </a:solidFill>
                <a:latin typeface="Lucida Grande"/>
                <a:ea typeface="+mn-ea"/>
                <a:cs typeface="Lucida Grande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rgbClr val="2D637F"/>
                </a:solidFill>
                <a:latin typeface="Lucida Grande"/>
                <a:ea typeface="+mn-ea"/>
                <a:cs typeface="Lucida Grande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rgbClr val="2D637F"/>
                </a:solidFill>
                <a:latin typeface="Lucida Grande"/>
                <a:ea typeface="+mn-ea"/>
                <a:cs typeface="Lucida Grande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rgbClr val="2D637F"/>
                </a:solidFill>
                <a:latin typeface="Lucida Grande"/>
                <a:ea typeface="+mn-ea"/>
                <a:cs typeface="Lucida Grande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rgbClr val="2D637F"/>
                </a:solidFill>
                <a:latin typeface="Lucida Grande"/>
                <a:ea typeface="+mn-ea"/>
                <a:cs typeface="Lucida Grande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Project 1:</a:t>
            </a:r>
          </a:p>
          <a:p>
            <a:pPr lvl="1"/>
            <a:r>
              <a:rPr lang="en-US" dirty="0"/>
              <a:t>03/22/2024</a:t>
            </a:r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4B8B12-2DEE-433D-5185-2F445B20AC28}"/>
              </a:ext>
            </a:extLst>
          </p:cNvPr>
          <p:cNvSpPr/>
          <p:nvPr/>
        </p:nvSpPr>
        <p:spPr>
          <a:xfrm>
            <a:off x="4479403" y="2176041"/>
            <a:ext cx="2500131" cy="1150353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1832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E5A550-6F7D-6A97-1BC8-FE26339A5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9802" y="2656798"/>
            <a:ext cx="2016598" cy="749054"/>
          </a:xfrm>
        </p:spPr>
        <p:txBody>
          <a:bodyPr/>
          <a:lstStyle/>
          <a:p>
            <a:r>
              <a:rPr lang="en-US" dirty="0"/>
              <a:t>Quiz 2</a:t>
            </a:r>
            <a:endParaRPr lang="es-V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9998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F5DC5DCE-FB98-EAE1-64DC-BFD9102C0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002" y="1701631"/>
            <a:ext cx="7787091" cy="244499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46776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54E85-C5C9-DEC6-05E5-CCAF92D23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15021B-9DDE-FF0C-ACC0-768F25017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78" y="4341691"/>
            <a:ext cx="7598644" cy="754064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BF84D995-FCF3-EC64-0046-6A8B2C925D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148" y="648628"/>
            <a:ext cx="6813632" cy="331603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75671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&#10;&#10;Description automatically generated">
            <a:extLst>
              <a:ext uri="{FF2B5EF4-FFF2-40B4-BE49-F238E27FC236}">
                <a16:creationId xmlns:a16="http://schemas.microsoft.com/office/drawing/2014/main" id="{BEF74DCB-56A3-519F-A606-A91813D22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128" y="1627511"/>
            <a:ext cx="7994114" cy="284031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13546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E5A550-6F7D-6A97-1BC8-FE26339A5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9802" y="2656798"/>
            <a:ext cx="2653206" cy="749054"/>
          </a:xfrm>
        </p:spPr>
        <p:txBody>
          <a:bodyPr/>
          <a:lstStyle/>
          <a:p>
            <a:r>
              <a:rPr lang="en-US" dirty="0"/>
              <a:t>Practice</a:t>
            </a:r>
            <a:endParaRPr lang="es-V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02111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887" y="788351"/>
            <a:ext cx="8332828" cy="3988044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Load the pisa2000.dta (which you need for HW3 and HW4)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Create a boxplot for </a:t>
            </a:r>
            <a:r>
              <a:rPr lang="en-US" sz="2000" i="1" dirty="0" err="1"/>
              <a:t>wleread</a:t>
            </a:r>
            <a:r>
              <a:rPr lang="en-US" sz="2000" dirty="0"/>
              <a:t>, and report its mean, median, and standard deviation</a:t>
            </a:r>
            <a:endParaRPr lang="en-US" sz="2000" i="1" dirty="0"/>
          </a:p>
          <a:p>
            <a:pPr marL="457200" indent="-457200">
              <a:buFont typeface="+mj-lt"/>
              <a:buAutoNum type="arabicPeriod"/>
            </a:pPr>
            <a:endParaRPr lang="en-US" sz="2000" i="1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Regress </a:t>
            </a:r>
            <a:r>
              <a:rPr lang="en-US" sz="2000" i="1" dirty="0" err="1"/>
              <a:t>wleread</a:t>
            </a:r>
            <a:r>
              <a:rPr lang="en-US" sz="2000" dirty="0"/>
              <a:t> on </a:t>
            </a:r>
            <a:r>
              <a:rPr lang="en-US" sz="2000" dirty="0" err="1"/>
              <a:t>test_lan</a:t>
            </a:r>
            <a:r>
              <a:rPr lang="en-US" sz="2000" dirty="0"/>
              <a:t> for USA only</a:t>
            </a:r>
            <a:br>
              <a:rPr lang="en-US" sz="2000" dirty="0"/>
            </a:b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Report out whether the slope is significant using the notation you’ll use on the project</a:t>
            </a:r>
            <a:br>
              <a:rPr lang="en-US" sz="2000" dirty="0"/>
            </a:b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Give the breakdown of participants per country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0490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AD511-EAAB-7169-A6E2-F7F8BEFA2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CCFEB88-DB65-D19B-F921-F11FC397C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3891" y="892543"/>
            <a:ext cx="2834179" cy="749054"/>
          </a:xfrm>
        </p:spPr>
        <p:txBody>
          <a:bodyPr/>
          <a:lstStyle/>
          <a:p>
            <a:r>
              <a:rPr lang="en-US" dirty="0"/>
              <a:t>Lab 05.do</a:t>
            </a:r>
            <a:endParaRPr lang="es-V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83883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E5A550-6F7D-6A97-1BC8-FE26339A5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5061" y="2549222"/>
            <a:ext cx="3113878" cy="749054"/>
          </a:xfrm>
        </p:spPr>
        <p:txBody>
          <a:bodyPr/>
          <a:lstStyle/>
          <a:p>
            <a:r>
              <a:rPr lang="en-US" dirty="0"/>
              <a:t>HW 3 and 4</a:t>
            </a:r>
            <a:endParaRPr lang="es-V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01453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0"/>
  <p:tag name="PRESGUID" val="d91b455b-f2b2-474a-9ff8-c1e90a511dd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1202</TotalTime>
  <Words>118</Words>
  <Application>Microsoft Office PowerPoint</Application>
  <PresentationFormat>On-screen Show (4:3)</PresentationFormat>
  <Paragraphs>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Georgia</vt:lpstr>
      <vt:lpstr>Lucida Grande</vt:lpstr>
      <vt:lpstr>Open Sans</vt:lpstr>
      <vt:lpstr>Open Sans ExtraBold</vt:lpstr>
      <vt:lpstr>Custom Design</vt:lpstr>
      <vt:lpstr>Welcome to Himilcon’s lab for EDUC 275B (Data II)!</vt:lpstr>
      <vt:lpstr>Upcoming Assignments</vt:lpstr>
      <vt:lpstr>Quiz 2</vt:lpstr>
      <vt:lpstr>PowerPoint Presentation</vt:lpstr>
      <vt:lpstr>PowerPoint Presentation</vt:lpstr>
      <vt:lpstr>PowerPoint Presentation</vt:lpstr>
      <vt:lpstr>Practice</vt:lpstr>
      <vt:lpstr>PowerPoint Presentation</vt:lpstr>
      <vt:lpstr>Lab 05.do</vt:lpstr>
      <vt:lpstr>HW 3 and 4</vt:lpstr>
    </vt:vector>
  </TitlesOfParts>
  <Company>UC Berkeley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Laurie Frasier</dc:creator>
  <cp:lastModifiedBy>Himilcon Inciarte</cp:lastModifiedBy>
  <cp:revision>116</cp:revision>
  <dcterms:created xsi:type="dcterms:W3CDTF">2013-01-15T19:08:57Z</dcterms:created>
  <dcterms:modified xsi:type="dcterms:W3CDTF">2024-02-20T16:51:16Z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6617E751-DBAE-4F4B-AC95-E29DA81D7101</vt:lpwstr>
  </property>
  <property fmtid="{D5CDD505-2E9C-101B-9397-08002B2CF9AE}" pid="3" name="ArticulatePath">
    <vt:lpwstr>Inciarte_Lab01</vt:lpwstr>
  </property>
</Properties>
</file>