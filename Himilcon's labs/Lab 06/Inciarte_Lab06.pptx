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301" r:id="rId4"/>
    <p:sldId id="302" r:id="rId5"/>
    <p:sldId id="303" r:id="rId6"/>
    <p:sldId id="338" r:id="rId7"/>
    <p:sldId id="337" r:id="rId8"/>
    <p:sldId id="339" r:id="rId9"/>
    <p:sldId id="335" r:id="rId10"/>
    <p:sldId id="334" r:id="rId11"/>
  </p:sldIdLst>
  <p:sldSz cx="9144000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37F"/>
    <a:srgbClr val="C28220"/>
    <a:srgbClr val="E09E19"/>
    <a:srgbClr val="9DAD33"/>
    <a:srgbClr val="6C3302"/>
    <a:srgbClr val="584F29"/>
    <a:srgbClr val="ED4E33"/>
    <a:srgbClr val="003262"/>
    <a:srgbClr val="53626F"/>
    <a:srgbClr val="00B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83791" autoAdjust="0"/>
  </p:normalViewPr>
  <p:slideViewPr>
    <p:cSldViewPr snapToGrid="0" snapToObjects="1">
      <p:cViewPr varScale="1">
        <p:scale>
          <a:sx n="66" d="100"/>
          <a:sy n="66" d="100"/>
        </p:scale>
        <p:origin x="2035" y="38"/>
      </p:cViewPr>
      <p:guideLst>
        <p:guide orient="horz" pos="36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3F6BF-7462-9046-A2B6-90C29244BD27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7DBC5-2A13-CA47-B9EE-6017A92B6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4333"/>
            <a:ext cx="681388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75258"/>
            <a:ext cx="6400800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2D637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053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0032"/>
            <a:ext cx="7766050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518947"/>
            <a:ext cx="7740650" cy="20646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30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8325" y="2017295"/>
            <a:ext cx="7772400" cy="199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325" y="1019341"/>
            <a:ext cx="7772400" cy="8956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>
                <a:solidFill>
                  <a:srgbClr val="2D637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753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2051"/>
            <a:ext cx="7464425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97755"/>
            <a:ext cx="3717925" cy="282349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4175125" y="2097754"/>
            <a:ext cx="3746500" cy="2823497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2D637F"/>
                </a:solidFill>
              </a:defRPr>
            </a:lvl1pPr>
            <a:lvl2pPr>
              <a:defRPr sz="2000">
                <a:solidFill>
                  <a:srgbClr val="2D637F"/>
                </a:solidFill>
              </a:defRPr>
            </a:lvl2pPr>
            <a:lvl3pPr>
              <a:defRPr sz="1800">
                <a:solidFill>
                  <a:srgbClr val="2D637F"/>
                </a:solidFill>
              </a:defRPr>
            </a:lvl3pPr>
            <a:lvl4pPr>
              <a:defRPr sz="1600">
                <a:solidFill>
                  <a:srgbClr val="2D637F"/>
                </a:solidFill>
              </a:defRPr>
            </a:lvl4pPr>
            <a:lvl5pPr>
              <a:defRPr sz="1400">
                <a:solidFill>
                  <a:srgbClr val="2D637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13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729789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000" y="358775"/>
            <a:ext cx="5486400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4296527"/>
            <a:ext cx="5486400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45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41995"/>
            <a:ext cx="3008313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575050" y="1041995"/>
            <a:ext cx="4537075" cy="365700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531651"/>
            <a:ext cx="3008313" cy="31673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9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1" y="1"/>
            <a:ext cx="457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1A3561"/>
                </a:solidFill>
                <a:latin typeface="Open Sans ExtraBold"/>
                <a:cs typeface="Open Sans Extra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9825" y="1504496"/>
            <a:ext cx="385191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1A3561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165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67368" y="53072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5259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8079"/>
            <a:ext cx="82296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274508" y="0"/>
            <a:ext cx="2869492" cy="23795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5598553"/>
            <a:ext cx="9170736" cy="13300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69048" y="6019295"/>
            <a:ext cx="17456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81" r:id="rId5"/>
    <p:sldLayoutId id="2147483649" r:id="rId6"/>
    <p:sldLayoutId id="2147483682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5000" kern="1200">
          <a:solidFill>
            <a:srgbClr val="C28220"/>
          </a:solidFill>
          <a:latin typeface="Georgia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rgbClr val="2D637F"/>
          </a:solidFill>
          <a:latin typeface="Lucida Grande"/>
          <a:ea typeface="+mn-ea"/>
          <a:cs typeface="Lucida Grand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D637F"/>
          </a:solidFill>
          <a:latin typeface="Lucida Grande"/>
          <a:ea typeface="+mn-ea"/>
          <a:cs typeface="Lucida Grand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D637F"/>
          </a:solidFill>
          <a:latin typeface="Lucida Grande"/>
          <a:ea typeface="+mn-ea"/>
          <a:cs typeface="Lucida Grand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D637F"/>
          </a:solidFill>
          <a:latin typeface="Lucida Grande"/>
          <a:ea typeface="+mn-ea"/>
          <a:cs typeface="Lucida Grand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rgbClr val="2D637F"/>
          </a:solidFill>
          <a:latin typeface="Lucida Grande"/>
          <a:ea typeface="+mn-ea"/>
          <a:cs typeface="Lucida Grand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819319"/>
            <a:ext cx="7833167" cy="1448130"/>
          </a:xfrm>
        </p:spPr>
        <p:txBody>
          <a:bodyPr/>
          <a:lstStyle/>
          <a:p>
            <a:r>
              <a:rPr lang="en-US" dirty="0">
                <a:solidFill>
                  <a:srgbClr val="C28220"/>
                </a:solidFill>
              </a:rPr>
              <a:t>Welcome to </a:t>
            </a:r>
            <a:r>
              <a:rPr lang="en-US" dirty="0" err="1">
                <a:solidFill>
                  <a:srgbClr val="C28220"/>
                </a:solidFill>
              </a:rPr>
              <a:t>Himilcon’s</a:t>
            </a:r>
            <a:r>
              <a:rPr lang="en-US" dirty="0">
                <a:solidFill>
                  <a:srgbClr val="C28220"/>
                </a:solidFill>
              </a:rPr>
              <a:t> lab for EDUC 275B (Data II)!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953943"/>
            <a:ext cx="6400800" cy="830009"/>
          </a:xfrm>
        </p:spPr>
        <p:txBody>
          <a:bodyPr/>
          <a:lstStyle/>
          <a:p>
            <a:r>
              <a:rPr lang="en-US" dirty="0"/>
              <a:t>Himilcon Inciarte</a:t>
            </a:r>
          </a:p>
          <a:p>
            <a:r>
              <a:rPr lang="en-US" dirty="0"/>
              <a:t>himilcon_Inciarte@berkeley.edu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CBDC53-92E8-6E18-71D5-AC98905433D0}"/>
              </a:ext>
            </a:extLst>
          </p:cNvPr>
          <p:cNvSpPr txBox="1">
            <a:spLocks/>
          </p:cNvSpPr>
          <p:nvPr/>
        </p:nvSpPr>
        <p:spPr>
          <a:xfrm>
            <a:off x="685800" y="2912962"/>
            <a:ext cx="6400800" cy="83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Lab 6</a:t>
            </a:r>
          </a:p>
          <a:p>
            <a:r>
              <a:rPr lang="en-US" dirty="0"/>
              <a:t>Thursday, February 29,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39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A76A-0ABB-3BEF-FC04-CD206B53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Assignments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4DF64D-A5B8-990A-3237-A950E2EA2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271989"/>
            <a:ext cx="3047678" cy="2137967"/>
          </a:xfrm>
        </p:spPr>
        <p:txBody>
          <a:bodyPr>
            <a:noAutofit/>
          </a:bodyPr>
          <a:lstStyle/>
          <a:p>
            <a:r>
              <a:rPr lang="en-US" dirty="0"/>
              <a:t>Quiz 2:</a:t>
            </a:r>
          </a:p>
          <a:p>
            <a:pPr lvl="1"/>
            <a:r>
              <a:rPr lang="en-US" dirty="0"/>
              <a:t>02/25/2024</a:t>
            </a:r>
          </a:p>
          <a:p>
            <a:endParaRPr lang="en-US" dirty="0"/>
          </a:p>
          <a:p>
            <a:r>
              <a:rPr lang="en-US" dirty="0"/>
              <a:t>Homework 3 &amp; 4:</a:t>
            </a:r>
          </a:p>
          <a:p>
            <a:pPr lvl="1"/>
            <a:r>
              <a:rPr lang="en-US" dirty="0"/>
              <a:t>02/26/2024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E41DF2-C242-DE1C-E566-6C23E85D7247}"/>
              </a:ext>
            </a:extLst>
          </p:cNvPr>
          <p:cNvSpPr txBox="1">
            <a:spLocks/>
          </p:cNvSpPr>
          <p:nvPr/>
        </p:nvSpPr>
        <p:spPr>
          <a:xfrm>
            <a:off x="4572000" y="2271988"/>
            <a:ext cx="3047678" cy="2137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1:</a:t>
            </a:r>
          </a:p>
          <a:p>
            <a:pPr lvl="1"/>
            <a:r>
              <a:rPr lang="en-US" dirty="0"/>
              <a:t>03/22/2024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B8B12-2DEE-433D-5185-2F445B20AC28}"/>
              </a:ext>
            </a:extLst>
          </p:cNvPr>
          <p:cNvSpPr/>
          <p:nvPr/>
        </p:nvSpPr>
        <p:spPr>
          <a:xfrm>
            <a:off x="4479403" y="2176041"/>
            <a:ext cx="2500131" cy="115035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83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653206" cy="749054"/>
          </a:xfrm>
        </p:spPr>
        <p:txBody>
          <a:bodyPr/>
          <a:lstStyle/>
          <a:p>
            <a:r>
              <a:rPr lang="en-US" dirty="0"/>
              <a:t>Practice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211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887" y="475833"/>
            <a:ext cx="8332828" cy="46980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Load </a:t>
            </a:r>
            <a:r>
              <a:rPr lang="en-US" sz="2000" dirty="0" err="1"/>
              <a:t>faculty.dta</a:t>
            </a:r>
            <a:r>
              <a:rPr lang="en-US" sz="2000" dirty="0"/>
              <a:t> (which you also need for today’s lab)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Regress </a:t>
            </a:r>
            <a:r>
              <a:rPr lang="en-US" sz="2000" i="1" dirty="0"/>
              <a:t>salary</a:t>
            </a:r>
            <a:r>
              <a:rPr lang="en-US" sz="2000" dirty="0"/>
              <a:t> </a:t>
            </a:r>
            <a:r>
              <a:rPr lang="en-US" sz="2000" b="1" dirty="0"/>
              <a:t>only </a:t>
            </a:r>
            <a:r>
              <a:rPr lang="en-US" sz="2000" dirty="0"/>
              <a:t>on assistant and associate professors and </a:t>
            </a:r>
            <a:r>
              <a:rPr lang="en-US" sz="2000" i="1" dirty="0" err="1"/>
              <a:t>yearsdg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For the questions below, be sure to use only the cases included in #1 above.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How many males are in the database?</a:t>
            </a:r>
            <a:endParaRPr lang="en-US" sz="2000" i="1" dirty="0"/>
          </a:p>
          <a:p>
            <a:pPr marL="457200" indent="-457200">
              <a:buFont typeface="+mj-lt"/>
              <a:buAutoNum type="arabicPeriod" startAt="2"/>
            </a:pPr>
            <a:endParaRPr lang="en-US" sz="2000" i="1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Report the mean and standard deviation for </a:t>
            </a:r>
            <a:r>
              <a:rPr lang="en-US" sz="2000" i="1" dirty="0" err="1"/>
              <a:t>yearsdg</a:t>
            </a:r>
            <a:r>
              <a:rPr lang="en-US" sz="2000" dirty="0"/>
              <a:t>. Produce a scatterplot of its relationship with </a:t>
            </a:r>
            <a:r>
              <a:rPr lang="en-US" sz="2000" i="1" dirty="0"/>
              <a:t>salary</a:t>
            </a:r>
            <a:r>
              <a:rPr lang="en-US" sz="2000" dirty="0"/>
              <a:t>. </a:t>
            </a:r>
            <a:br>
              <a:rPr lang="en-US" sz="2000" dirty="0"/>
            </a:br>
            <a:endParaRPr lang="en-US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Show a box plot for </a:t>
            </a:r>
            <a:r>
              <a:rPr lang="en-US" sz="2000" i="1" dirty="0"/>
              <a:t>salary</a:t>
            </a:r>
            <a:r>
              <a:rPr lang="en-US" sz="2000" dirty="0"/>
              <a:t> within each value of </a:t>
            </a:r>
            <a:r>
              <a:rPr lang="en-US" sz="2000" i="1" dirty="0"/>
              <a:t>gender</a:t>
            </a:r>
            <a:r>
              <a:rPr lang="en-US" sz="2000" dirty="0"/>
              <a:t>. </a:t>
            </a:r>
            <a:br>
              <a:rPr lang="en-US" sz="2000" dirty="0"/>
            </a:b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049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016598" cy="749054"/>
          </a:xfrm>
        </p:spPr>
        <p:txBody>
          <a:bodyPr/>
          <a:lstStyle/>
          <a:p>
            <a:r>
              <a:rPr lang="en-US" dirty="0"/>
              <a:t>Quiz 3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99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97CA9A6-BD72-901B-5611-7350EF2D1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3" y="1193564"/>
            <a:ext cx="8557273" cy="32395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677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4E85-C5C9-DEC6-05E5-CCAF92D2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565BDED-57E3-3174-AAC1-EA18D0B0F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39" y="1439582"/>
            <a:ext cx="6371521" cy="31902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567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6F919-4D80-C1F5-FED6-EB18B1AE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57662D5-3E15-314F-4B4D-82BA43D5D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29" y="1887763"/>
            <a:ext cx="7526142" cy="19810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26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test&#10;&#10;Description automatically generated">
            <a:extLst>
              <a:ext uri="{FF2B5EF4-FFF2-40B4-BE49-F238E27FC236}">
                <a16:creationId xmlns:a16="http://schemas.microsoft.com/office/drawing/2014/main" id="{FD675528-8050-0AC9-3E51-CF73D1001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69" y="2008118"/>
            <a:ext cx="8103113" cy="19041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354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D511-EAAB-7169-A6E2-F7F8BEFA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CFEB88-DB65-D19B-F921-F11FC397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891" y="892543"/>
            <a:ext cx="2834179" cy="749054"/>
          </a:xfrm>
        </p:spPr>
        <p:txBody>
          <a:bodyPr/>
          <a:lstStyle/>
          <a:p>
            <a:r>
              <a:rPr lang="en-US" dirty="0"/>
              <a:t>Lab 06.do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3883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0"/>
  <p:tag name="ARTICULATE_PROJECT_OPEN" val="0"/>
  <p:tag name="PRESGUID" val="793f9c75-a72e-4adc-9759-86f8fa04df7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1289</TotalTime>
  <Words>133</Words>
  <Application>Microsoft Office PowerPoint</Application>
  <PresentationFormat>On-screen Show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Georgia</vt:lpstr>
      <vt:lpstr>Lucida Grande</vt:lpstr>
      <vt:lpstr>Open Sans</vt:lpstr>
      <vt:lpstr>Open Sans ExtraBold</vt:lpstr>
      <vt:lpstr>Custom Design</vt:lpstr>
      <vt:lpstr>Welcome to Himilcon’s lab for EDUC 275B (Data II)!</vt:lpstr>
      <vt:lpstr>Upcoming Assignments</vt:lpstr>
      <vt:lpstr>Practice</vt:lpstr>
      <vt:lpstr>PowerPoint Presentation</vt:lpstr>
      <vt:lpstr>Quiz 3</vt:lpstr>
      <vt:lpstr>PowerPoint Presentation</vt:lpstr>
      <vt:lpstr>PowerPoint Presentation</vt:lpstr>
      <vt:lpstr>PowerPoint Presentation</vt:lpstr>
      <vt:lpstr>PowerPoint Presentation</vt:lpstr>
      <vt:lpstr>Lab 06.do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Laurie Frasier</dc:creator>
  <cp:lastModifiedBy>Himilcon Inciarte</cp:lastModifiedBy>
  <cp:revision>127</cp:revision>
  <dcterms:created xsi:type="dcterms:W3CDTF">2013-01-15T19:08:57Z</dcterms:created>
  <dcterms:modified xsi:type="dcterms:W3CDTF">2024-02-29T01:23:29Z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6617E751-DBAE-4F4B-AC95-E29DA81D7101</vt:lpwstr>
  </property>
  <property fmtid="{D5CDD505-2E9C-101B-9397-08002B2CF9AE}" pid="3" name="ArticulatePath">
    <vt:lpwstr>Inciarte_Lab01</vt:lpwstr>
  </property>
</Properties>
</file>